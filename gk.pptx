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Helvetica World" panose="020B0604020202020204" charset="-128"/>
      <p:regular r:id="rId12"/>
    </p:embeddedFont>
    <p:embeddedFont>
      <p:font typeface="Montserrat" panose="00000500000000000000" pitchFamily="2" charset="-93"/>
      <p:regular r:id="rId13"/>
    </p:embeddedFont>
    <p:embeddedFont>
      <p:font typeface="Montserrat Bold" panose="020B0604020202020204" charset="-93"/>
      <p:regular r:id="rId14"/>
    </p:embeddedFont>
    <p:embeddedFont>
      <p:font typeface="Times New Roman MT Condensed Italics"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20-Mar-26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20-Mar-26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20-Mar-26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20-Mar-26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20-Mar-26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20-Mar-26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20-Mar-26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F0F2"/>
        </a:solidFill>
        <a:effectLst/>
      </p:bgPr>
    </p:bg>
    <p:spTree>
      <p:nvGrpSpPr>
        <p:cNvPr id="1" name=""/>
        <p:cNvGrpSpPr/>
        <p:nvPr/>
      </p:nvGrpSpPr>
      <p:grpSpPr>
        <a:xfrm>
          <a:off x="0" y="0"/>
          <a:ext cx="0" cy="0"/>
          <a:chOff x="0" y="0"/>
          <a:chExt cx="0" cy="0"/>
        </a:xfrm>
      </p:grpSpPr>
      <p:sp>
        <p:nvSpPr>
          <p:cNvPr id="2" name="AutoShape 2"/>
          <p:cNvSpPr/>
          <p:nvPr/>
        </p:nvSpPr>
        <p:spPr>
          <a:xfrm flipV="1">
            <a:off x="1598254" y="1976798"/>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3" name="Freeform 3"/>
          <p:cNvSpPr/>
          <p:nvPr/>
        </p:nvSpPr>
        <p:spPr>
          <a:xfrm>
            <a:off x="143928" y="0"/>
            <a:ext cx="7324871" cy="1753434"/>
          </a:xfrm>
          <a:custGeom>
            <a:avLst/>
            <a:gdLst/>
            <a:ahLst/>
            <a:cxnLst/>
            <a:rect l="l" t="t" r="r" b="b"/>
            <a:pathLst>
              <a:path w="7324871" h="1753434">
                <a:moveTo>
                  <a:pt x="0" y="0"/>
                </a:moveTo>
                <a:lnTo>
                  <a:pt x="7324871" y="0"/>
                </a:lnTo>
                <a:lnTo>
                  <a:pt x="7324871" y="1753434"/>
                </a:lnTo>
                <a:lnTo>
                  <a:pt x="0" y="1753434"/>
                </a:lnTo>
                <a:lnTo>
                  <a:pt x="0" y="0"/>
                </a:lnTo>
                <a:close/>
              </a:path>
            </a:pathLst>
          </a:custGeom>
          <a:blipFill>
            <a:blip r:embed="rId2"/>
            <a:stretch>
              <a:fillRect b="-13313"/>
            </a:stretch>
          </a:blipFill>
        </p:spPr>
        <p:txBody>
          <a:bodyPr/>
          <a:lstStyle/>
          <a:p>
            <a:endParaRPr lang="vi-VN"/>
          </a:p>
        </p:txBody>
      </p:sp>
      <p:sp>
        <p:nvSpPr>
          <p:cNvPr id="4" name="TextBox 4"/>
          <p:cNvSpPr txBox="1"/>
          <p:nvPr/>
        </p:nvSpPr>
        <p:spPr>
          <a:xfrm>
            <a:off x="2505327" y="2466975"/>
            <a:ext cx="14060331" cy="3067050"/>
          </a:xfrm>
          <a:prstGeom prst="rect">
            <a:avLst/>
          </a:prstGeom>
        </p:spPr>
        <p:txBody>
          <a:bodyPr lIns="0" tIns="0" rIns="0" bIns="0" rtlCol="0" anchor="t">
            <a:spAutoFit/>
          </a:bodyPr>
          <a:lstStyle/>
          <a:p>
            <a:pPr algn="ctr">
              <a:lnSpc>
                <a:spcPts val="8040"/>
              </a:lnSpc>
            </a:pPr>
            <a:r>
              <a:rPr lang="en-US" sz="6700">
                <a:solidFill>
                  <a:srgbClr val="000000"/>
                </a:solidFill>
                <a:latin typeface="Montserrat"/>
                <a:ea typeface="Montserrat"/>
                <a:cs typeface="Montserrat"/>
                <a:sym typeface="Montserrat"/>
              </a:rPr>
              <a:t>KIỂM THỬ XSS DEFENSES: ENCODING, CSP Ở MỨC CẤU HÌNH VÀ HÀNH VI</a:t>
            </a:r>
          </a:p>
        </p:txBody>
      </p:sp>
      <p:sp>
        <p:nvSpPr>
          <p:cNvPr id="5" name="TextBox 5"/>
          <p:cNvSpPr txBox="1"/>
          <p:nvPr/>
        </p:nvSpPr>
        <p:spPr>
          <a:xfrm>
            <a:off x="3542585" y="5805613"/>
            <a:ext cx="11773615" cy="2758979"/>
          </a:xfrm>
          <a:prstGeom prst="rect">
            <a:avLst/>
          </a:prstGeom>
        </p:spPr>
        <p:txBody>
          <a:bodyPr wrap="square" lIns="0" tIns="0" rIns="0" bIns="0" rtlCol="0" anchor="t">
            <a:spAutoFit/>
          </a:bodyPr>
          <a:lstStyle/>
          <a:p>
            <a:pPr algn="ctr">
              <a:lnSpc>
                <a:spcPts val="5522"/>
              </a:lnSpc>
              <a:spcBef>
                <a:spcPct val="0"/>
              </a:spcBef>
            </a:pPr>
            <a:r>
              <a:rPr lang="en-US" sz="4248" dirty="0" err="1">
                <a:solidFill>
                  <a:srgbClr val="000000"/>
                </a:solidFill>
                <a:latin typeface="Montserrat"/>
                <a:ea typeface="Montserrat"/>
                <a:cs typeface="Montserrat"/>
                <a:sym typeface="Montserrat"/>
              </a:rPr>
              <a:t>Giảng</a:t>
            </a:r>
            <a:r>
              <a:rPr lang="en-US" sz="4248" dirty="0">
                <a:solidFill>
                  <a:srgbClr val="000000"/>
                </a:solidFill>
                <a:latin typeface="Montserrat"/>
                <a:ea typeface="Montserrat"/>
                <a:cs typeface="Montserrat"/>
                <a:sym typeface="Montserrat"/>
              </a:rPr>
              <a:t> </a:t>
            </a:r>
            <a:r>
              <a:rPr lang="en-US" sz="4248" dirty="0" err="1">
                <a:solidFill>
                  <a:srgbClr val="000000"/>
                </a:solidFill>
                <a:latin typeface="Montserrat"/>
                <a:ea typeface="Montserrat"/>
                <a:cs typeface="Montserrat"/>
                <a:sym typeface="Montserrat"/>
              </a:rPr>
              <a:t>viên</a:t>
            </a:r>
            <a:r>
              <a:rPr lang="en-US" sz="4248" dirty="0">
                <a:solidFill>
                  <a:srgbClr val="000000"/>
                </a:solidFill>
                <a:latin typeface="Montserrat"/>
                <a:ea typeface="Montserrat"/>
                <a:cs typeface="Montserrat"/>
                <a:sym typeface="Montserrat"/>
              </a:rPr>
              <a:t> </a:t>
            </a:r>
            <a:r>
              <a:rPr lang="en-US" sz="4248" dirty="0" err="1">
                <a:solidFill>
                  <a:srgbClr val="000000"/>
                </a:solidFill>
                <a:latin typeface="Montserrat"/>
                <a:ea typeface="Montserrat"/>
                <a:cs typeface="Montserrat"/>
                <a:sym typeface="Montserrat"/>
              </a:rPr>
              <a:t>hướng</a:t>
            </a:r>
            <a:r>
              <a:rPr lang="en-US" sz="4248" dirty="0">
                <a:solidFill>
                  <a:srgbClr val="000000"/>
                </a:solidFill>
                <a:latin typeface="Montserrat"/>
                <a:ea typeface="Montserrat"/>
                <a:cs typeface="Montserrat"/>
                <a:sym typeface="Montserrat"/>
              </a:rPr>
              <a:t> </a:t>
            </a:r>
            <a:r>
              <a:rPr lang="en-US" sz="4248" dirty="0" err="1">
                <a:solidFill>
                  <a:srgbClr val="000000"/>
                </a:solidFill>
                <a:latin typeface="Montserrat"/>
                <a:ea typeface="Montserrat"/>
                <a:cs typeface="Montserrat"/>
                <a:sym typeface="Montserrat"/>
              </a:rPr>
              <a:t>dẫn</a:t>
            </a:r>
            <a:r>
              <a:rPr lang="en-US" sz="4248" dirty="0">
                <a:solidFill>
                  <a:srgbClr val="000000"/>
                </a:solidFill>
                <a:latin typeface="Montserrat"/>
                <a:ea typeface="Montserrat"/>
                <a:cs typeface="Montserrat"/>
                <a:sym typeface="Montserrat"/>
              </a:rPr>
              <a:t>: </a:t>
            </a:r>
            <a:r>
              <a:rPr lang="en-US" sz="4248" dirty="0" err="1">
                <a:solidFill>
                  <a:srgbClr val="000000"/>
                </a:solidFill>
                <a:latin typeface="Montserrat"/>
                <a:ea typeface="Montserrat"/>
                <a:cs typeface="Montserrat"/>
                <a:sym typeface="Montserrat"/>
              </a:rPr>
              <a:t>Phạm</a:t>
            </a:r>
            <a:r>
              <a:rPr lang="en-US" sz="4248" dirty="0">
                <a:solidFill>
                  <a:srgbClr val="000000"/>
                </a:solidFill>
                <a:latin typeface="Montserrat"/>
                <a:ea typeface="Montserrat"/>
                <a:cs typeface="Montserrat"/>
                <a:sym typeface="Montserrat"/>
              </a:rPr>
              <a:t> </a:t>
            </a:r>
            <a:r>
              <a:rPr lang="en-US" sz="4248" dirty="0" err="1">
                <a:solidFill>
                  <a:srgbClr val="000000"/>
                </a:solidFill>
                <a:latin typeface="Montserrat"/>
                <a:ea typeface="Montserrat"/>
                <a:cs typeface="Montserrat"/>
                <a:sym typeface="Montserrat"/>
              </a:rPr>
              <a:t>Trọng</a:t>
            </a:r>
            <a:r>
              <a:rPr lang="en-US" sz="4248" dirty="0">
                <a:solidFill>
                  <a:srgbClr val="000000"/>
                </a:solidFill>
                <a:latin typeface="Montserrat"/>
                <a:ea typeface="Montserrat"/>
                <a:cs typeface="Montserrat"/>
                <a:sym typeface="Montserrat"/>
              </a:rPr>
              <a:t> Huynh</a:t>
            </a:r>
          </a:p>
          <a:p>
            <a:pPr algn="ctr">
              <a:lnSpc>
                <a:spcPts val="5522"/>
              </a:lnSpc>
              <a:spcBef>
                <a:spcPct val="0"/>
              </a:spcBef>
            </a:pPr>
            <a:r>
              <a:rPr lang="en-US" sz="4248" dirty="0">
                <a:solidFill>
                  <a:srgbClr val="000000"/>
                </a:solidFill>
                <a:latin typeface="Montserrat"/>
                <a:ea typeface="Montserrat"/>
                <a:cs typeface="Montserrat"/>
                <a:sym typeface="Montserrat"/>
              </a:rPr>
              <a:t>Thành </a:t>
            </a:r>
            <a:r>
              <a:rPr lang="en-US" sz="4248" dirty="0" err="1">
                <a:solidFill>
                  <a:srgbClr val="000000"/>
                </a:solidFill>
                <a:latin typeface="Montserrat"/>
                <a:ea typeface="Montserrat"/>
                <a:cs typeface="Montserrat"/>
                <a:sym typeface="Montserrat"/>
              </a:rPr>
              <a:t>viên</a:t>
            </a:r>
            <a:r>
              <a:rPr lang="en-US" sz="4248" dirty="0">
                <a:solidFill>
                  <a:srgbClr val="000000"/>
                </a:solidFill>
                <a:latin typeface="Montserrat"/>
                <a:ea typeface="Montserrat"/>
                <a:cs typeface="Montserrat"/>
                <a:sym typeface="Montserrat"/>
              </a:rPr>
              <a:t>:</a:t>
            </a:r>
          </a:p>
          <a:p>
            <a:pPr algn="ctr">
              <a:lnSpc>
                <a:spcPts val="5522"/>
              </a:lnSpc>
              <a:spcBef>
                <a:spcPct val="0"/>
              </a:spcBef>
            </a:pPr>
            <a:r>
              <a:rPr lang="en-US" sz="4248" dirty="0">
                <a:solidFill>
                  <a:srgbClr val="000000"/>
                </a:solidFill>
                <a:latin typeface="Montserrat"/>
                <a:ea typeface="Montserrat"/>
                <a:cs typeface="Montserrat"/>
                <a:sym typeface="Montserrat"/>
              </a:rPr>
              <a:t>Nguyễn </a:t>
            </a:r>
            <a:r>
              <a:rPr lang="en-US" sz="4248" dirty="0" err="1">
                <a:solidFill>
                  <a:srgbClr val="000000"/>
                </a:solidFill>
                <a:latin typeface="Montserrat"/>
                <a:ea typeface="Montserrat"/>
                <a:cs typeface="Montserrat"/>
                <a:sym typeface="Montserrat"/>
              </a:rPr>
              <a:t>Trường</a:t>
            </a:r>
            <a:r>
              <a:rPr lang="en-US" sz="4248" dirty="0">
                <a:solidFill>
                  <a:srgbClr val="000000"/>
                </a:solidFill>
                <a:latin typeface="Montserrat"/>
                <a:ea typeface="Montserrat"/>
                <a:cs typeface="Montserrat"/>
                <a:sym typeface="Montserrat"/>
              </a:rPr>
              <a:t> Thịnh-1150080157</a:t>
            </a:r>
          </a:p>
          <a:p>
            <a:pPr algn="ctr">
              <a:lnSpc>
                <a:spcPts val="5522"/>
              </a:lnSpc>
              <a:spcBef>
                <a:spcPct val="0"/>
              </a:spcBef>
            </a:pPr>
            <a:endParaRPr lang="en-US" sz="4248" dirty="0">
              <a:solidFill>
                <a:srgbClr val="000000"/>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EDF0F2">
                    <a:alpha val="0"/>
                  </a:srgbClr>
                </a:gs>
                <a:gs pos="100000">
                  <a:srgbClr val="85878A">
                    <a:alpha val="25000"/>
                  </a:srgbClr>
                </a:gs>
              </a:gsLst>
              <a:lin ang="0"/>
            </a:gradFill>
          </p:spPr>
          <p:txBody>
            <a:bodyPr/>
            <a:lstStyle/>
            <a:p>
              <a:endParaRPr lang="vi-VN"/>
            </a:p>
          </p:txBody>
        </p:sp>
        <p:sp>
          <p:nvSpPr>
            <p:cNvPr id="4" name="TextBox 4"/>
            <p:cNvSpPr txBox="1"/>
            <p:nvPr/>
          </p:nvSpPr>
          <p:spPr>
            <a:xfrm>
              <a:off x="0" y="-9525"/>
              <a:ext cx="2408296" cy="2718858"/>
            </a:xfrm>
            <a:prstGeom prst="rect">
              <a:avLst/>
            </a:prstGeom>
          </p:spPr>
          <p:txBody>
            <a:bodyPr lIns="50800" tIns="50800" rIns="50800" bIns="50800" rtlCol="0" anchor="ctr"/>
            <a:lstStyle/>
            <a:p>
              <a:pPr algn="ctr">
                <a:lnSpc>
                  <a:spcPts val="1800"/>
                </a:lnSpc>
              </a:pPr>
              <a:endParaRPr/>
            </a:p>
          </p:txBody>
        </p:sp>
      </p:grpSp>
      <p:sp>
        <p:nvSpPr>
          <p:cNvPr id="5" name="AutoShape 5"/>
          <p:cNvSpPr/>
          <p:nvPr/>
        </p:nvSpPr>
        <p:spPr>
          <a:xfrm flipV="1">
            <a:off x="1313480" y="1028700"/>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6" name="TextBox 6"/>
          <p:cNvSpPr txBox="1"/>
          <p:nvPr/>
        </p:nvSpPr>
        <p:spPr>
          <a:xfrm>
            <a:off x="5592340" y="1246114"/>
            <a:ext cx="6980660" cy="952501"/>
          </a:xfrm>
          <a:prstGeom prst="rect">
            <a:avLst/>
          </a:prstGeom>
        </p:spPr>
        <p:txBody>
          <a:bodyPr wrap="square" lIns="0" tIns="0" rIns="0" bIns="0" rtlCol="0" anchor="t">
            <a:spAutoFit/>
          </a:bodyPr>
          <a:lstStyle/>
          <a:p>
            <a:pPr algn="ctr">
              <a:lnSpc>
                <a:spcPts val="7799"/>
              </a:lnSpc>
              <a:spcBef>
                <a:spcPct val="0"/>
              </a:spcBef>
            </a:pPr>
            <a:r>
              <a:rPr lang="en-US" sz="5999" b="1" dirty="0" err="1">
                <a:solidFill>
                  <a:srgbClr val="000000"/>
                </a:solidFill>
                <a:latin typeface="Montserrat Bold"/>
                <a:ea typeface="Montserrat Bold"/>
                <a:cs typeface="Montserrat Bold"/>
                <a:sym typeface="Montserrat Bold"/>
              </a:rPr>
              <a:t>Tổng</a:t>
            </a:r>
            <a:r>
              <a:rPr lang="en-US" sz="5999" b="1" dirty="0">
                <a:solidFill>
                  <a:srgbClr val="000000"/>
                </a:solidFill>
                <a:latin typeface="Montserrat Bold"/>
                <a:ea typeface="Montserrat Bold"/>
                <a:cs typeface="Montserrat Bold"/>
                <a:sym typeface="Montserrat Bold"/>
              </a:rPr>
              <a:t> </a:t>
            </a:r>
            <a:r>
              <a:rPr lang="en-US" sz="5999" b="1" dirty="0" err="1">
                <a:solidFill>
                  <a:srgbClr val="000000"/>
                </a:solidFill>
                <a:latin typeface="Montserrat Bold"/>
                <a:ea typeface="Montserrat Bold"/>
                <a:cs typeface="Montserrat Bold"/>
                <a:sym typeface="Montserrat Bold"/>
              </a:rPr>
              <a:t>quan</a:t>
            </a:r>
            <a:r>
              <a:rPr lang="en-US" sz="5999" b="1" dirty="0">
                <a:solidFill>
                  <a:srgbClr val="000000"/>
                </a:solidFill>
                <a:latin typeface="Montserrat Bold"/>
                <a:ea typeface="Montserrat Bold"/>
                <a:cs typeface="Montserrat Bold"/>
                <a:sym typeface="Montserrat Bold"/>
              </a:rPr>
              <a:t> </a:t>
            </a:r>
            <a:r>
              <a:rPr lang="en-US" sz="5999" b="1" dirty="0" err="1">
                <a:solidFill>
                  <a:srgbClr val="000000"/>
                </a:solidFill>
                <a:latin typeface="Montserrat Bold"/>
                <a:ea typeface="Montserrat Bold"/>
                <a:cs typeface="Montserrat Bold"/>
                <a:sym typeface="Montserrat Bold"/>
              </a:rPr>
              <a:t>dự</a:t>
            </a:r>
            <a:r>
              <a:rPr lang="en-US" sz="5999" b="1" dirty="0">
                <a:solidFill>
                  <a:srgbClr val="000000"/>
                </a:solidFill>
                <a:latin typeface="Montserrat Bold"/>
                <a:ea typeface="Montserrat Bold"/>
                <a:cs typeface="Montserrat Bold"/>
                <a:sym typeface="Montserrat Bold"/>
              </a:rPr>
              <a:t> </a:t>
            </a:r>
            <a:r>
              <a:rPr lang="en-US" sz="5999" b="1" dirty="0" err="1">
                <a:solidFill>
                  <a:srgbClr val="000000"/>
                </a:solidFill>
                <a:latin typeface="Montserrat Bold"/>
                <a:ea typeface="Montserrat Bold"/>
                <a:cs typeface="Montserrat Bold"/>
                <a:sym typeface="Montserrat Bold"/>
              </a:rPr>
              <a:t>án</a:t>
            </a:r>
            <a:endParaRPr lang="en-US" sz="5999" b="1" dirty="0">
              <a:solidFill>
                <a:srgbClr val="000000"/>
              </a:solidFill>
              <a:latin typeface="Montserrat Bold"/>
              <a:ea typeface="Montserrat Bold"/>
              <a:cs typeface="Montserrat Bold"/>
              <a:sym typeface="Montserrat Bold"/>
            </a:endParaRPr>
          </a:p>
        </p:txBody>
      </p:sp>
      <p:sp>
        <p:nvSpPr>
          <p:cNvPr id="7" name="TextBox 7"/>
          <p:cNvSpPr txBox="1"/>
          <p:nvPr/>
        </p:nvSpPr>
        <p:spPr>
          <a:xfrm>
            <a:off x="881840" y="2408165"/>
            <a:ext cx="7500160" cy="635001"/>
          </a:xfrm>
          <a:prstGeom prst="rect">
            <a:avLst/>
          </a:prstGeom>
        </p:spPr>
        <p:txBody>
          <a:bodyPr wrap="square" lIns="0" tIns="0" rIns="0" bIns="0" rtlCol="0" anchor="t">
            <a:spAutoFit/>
          </a:bodyPr>
          <a:lstStyle/>
          <a:p>
            <a:pPr algn="ctr">
              <a:lnSpc>
                <a:spcPts val="5199"/>
              </a:lnSpc>
              <a:spcBef>
                <a:spcPct val="0"/>
              </a:spcBef>
            </a:pPr>
            <a:r>
              <a:rPr lang="en-US" sz="3999" dirty="0" err="1">
                <a:solidFill>
                  <a:srgbClr val="000000"/>
                </a:solidFill>
                <a:latin typeface="Montserrat"/>
                <a:ea typeface="Montserrat"/>
                <a:cs typeface="Montserrat"/>
                <a:sym typeface="Montserrat"/>
              </a:rPr>
              <a:t>Giới</a:t>
            </a:r>
            <a:r>
              <a:rPr lang="en-US" sz="3999" dirty="0">
                <a:solidFill>
                  <a:srgbClr val="000000"/>
                </a:solidFill>
                <a:latin typeface="Montserrat"/>
                <a:ea typeface="Montserrat"/>
                <a:cs typeface="Montserrat"/>
                <a:sym typeface="Montserrat"/>
              </a:rPr>
              <a:t> </a:t>
            </a:r>
            <a:r>
              <a:rPr lang="en-US" sz="3999" dirty="0" err="1">
                <a:solidFill>
                  <a:srgbClr val="000000"/>
                </a:solidFill>
                <a:latin typeface="Montserrat"/>
                <a:ea typeface="Montserrat"/>
                <a:cs typeface="Montserrat"/>
                <a:sym typeface="Montserrat"/>
              </a:rPr>
              <a:t>thiệu</a:t>
            </a:r>
            <a:r>
              <a:rPr lang="en-US" sz="3999" dirty="0">
                <a:solidFill>
                  <a:srgbClr val="000000"/>
                </a:solidFill>
                <a:latin typeface="Montserrat"/>
                <a:ea typeface="Montserrat"/>
                <a:cs typeface="Montserrat"/>
                <a:sym typeface="Montserrat"/>
              </a:rPr>
              <a:t> </a:t>
            </a:r>
            <a:r>
              <a:rPr lang="en-US" sz="3999" dirty="0" err="1">
                <a:solidFill>
                  <a:srgbClr val="000000"/>
                </a:solidFill>
                <a:latin typeface="Montserrat"/>
                <a:ea typeface="Montserrat"/>
                <a:cs typeface="Montserrat"/>
                <a:sym typeface="Montserrat"/>
              </a:rPr>
              <a:t>nội</a:t>
            </a:r>
            <a:r>
              <a:rPr lang="en-US" sz="3999" dirty="0">
                <a:solidFill>
                  <a:srgbClr val="000000"/>
                </a:solidFill>
                <a:latin typeface="Montserrat"/>
                <a:ea typeface="Montserrat"/>
                <a:cs typeface="Montserrat"/>
                <a:sym typeface="Montserrat"/>
              </a:rPr>
              <a:t> dung </a:t>
            </a:r>
            <a:r>
              <a:rPr lang="en-US" sz="3999" dirty="0" err="1">
                <a:solidFill>
                  <a:srgbClr val="000000"/>
                </a:solidFill>
                <a:latin typeface="Montserrat"/>
                <a:ea typeface="Montserrat"/>
                <a:cs typeface="Montserrat"/>
                <a:sym typeface="Montserrat"/>
              </a:rPr>
              <a:t>kiểm</a:t>
            </a:r>
            <a:r>
              <a:rPr lang="en-US" sz="3999" dirty="0">
                <a:solidFill>
                  <a:srgbClr val="000000"/>
                </a:solidFill>
                <a:latin typeface="Montserrat"/>
                <a:ea typeface="Montserrat"/>
                <a:cs typeface="Montserrat"/>
                <a:sym typeface="Montserrat"/>
              </a:rPr>
              <a:t> </a:t>
            </a:r>
            <a:r>
              <a:rPr lang="en-US" sz="3999" dirty="0" err="1">
                <a:solidFill>
                  <a:srgbClr val="000000"/>
                </a:solidFill>
                <a:latin typeface="Montserrat"/>
                <a:ea typeface="Montserrat"/>
                <a:cs typeface="Montserrat"/>
                <a:sym typeface="Montserrat"/>
              </a:rPr>
              <a:t>thử</a:t>
            </a:r>
            <a:endParaRPr lang="en-US" sz="3999" dirty="0">
              <a:solidFill>
                <a:srgbClr val="000000"/>
              </a:solidFill>
              <a:latin typeface="Montserrat"/>
              <a:ea typeface="Montserrat"/>
              <a:cs typeface="Montserrat"/>
              <a:sym typeface="Montserrat"/>
            </a:endParaRPr>
          </a:p>
        </p:txBody>
      </p:sp>
      <p:sp>
        <p:nvSpPr>
          <p:cNvPr id="8" name="TextBox 8"/>
          <p:cNvSpPr txBox="1"/>
          <p:nvPr/>
        </p:nvSpPr>
        <p:spPr>
          <a:xfrm>
            <a:off x="881840" y="3613922"/>
            <a:ext cx="16524319" cy="3937635"/>
          </a:xfrm>
          <a:prstGeom prst="rect">
            <a:avLst/>
          </a:prstGeom>
        </p:spPr>
        <p:txBody>
          <a:bodyPr lIns="0" tIns="0" rIns="0" bIns="0" rtlCol="0" anchor="t">
            <a:spAutoFit/>
          </a:bodyPr>
          <a:lstStyle/>
          <a:p>
            <a:pPr algn="just">
              <a:lnSpc>
                <a:spcPts val="3509"/>
              </a:lnSpc>
            </a:pPr>
            <a:r>
              <a:rPr lang="en-US" sz="2699">
                <a:solidFill>
                  <a:srgbClr val="000000"/>
                </a:solidFill>
                <a:latin typeface="Montserrat"/>
                <a:ea typeface="Montserrat"/>
                <a:cs typeface="Montserrat"/>
                <a:sym typeface="Montserrat"/>
              </a:rPr>
              <a:t>Ứng dụng được lựa chọn để kiểm thử là OWASP Juice Shop, một ứng dụng web mã nguồn mở được phát triển nhằm phục vụ mục đích học tập và nghiên cứu về bảo mật ứng dụng web. Ứng dụng này mô phỏng một website bán hàng trực tuyến với đầy đủ các chức năng như tìm kiếm sản phẩm, đăng ký tài khoản, đăng nhập, đánh giá sản phẩm và thanh toán.</a:t>
            </a:r>
          </a:p>
          <a:p>
            <a:pPr algn="just">
              <a:lnSpc>
                <a:spcPts val="3509"/>
              </a:lnSpc>
            </a:pPr>
            <a:endParaRPr lang="en-US" sz="2699">
              <a:solidFill>
                <a:srgbClr val="000000"/>
              </a:solidFill>
              <a:latin typeface="Montserrat"/>
              <a:ea typeface="Montserrat"/>
              <a:cs typeface="Montserrat"/>
              <a:sym typeface="Montserrat"/>
            </a:endParaRPr>
          </a:p>
          <a:p>
            <a:pPr algn="just">
              <a:lnSpc>
                <a:spcPts val="3509"/>
              </a:lnSpc>
              <a:spcBef>
                <a:spcPct val="0"/>
              </a:spcBef>
            </a:pPr>
            <a:r>
              <a:rPr lang="en-US" sz="2699">
                <a:solidFill>
                  <a:srgbClr val="000000"/>
                </a:solidFill>
                <a:latin typeface="Montserrat"/>
                <a:ea typeface="Montserrat"/>
                <a:cs typeface="Montserrat"/>
                <a:sym typeface="Montserrat"/>
              </a:rPr>
              <a:t>OWASP Juice Shop được thiết kế cố ý chứa nhiều lỗ hổng bảo mật phổ biến, trong đó có lỗ hổng Cross-Site Scripting (XSS). Vì vậy, đây là môi trường phù hợp để thực hiện kiểm thử các cơ chế phòng chống XSS như encoding và Content Security Policy (CSP).</a:t>
            </a:r>
          </a:p>
          <a:p>
            <a:pPr algn="just">
              <a:lnSpc>
                <a:spcPts val="3509"/>
              </a:lnSpc>
              <a:spcBef>
                <a:spcPct val="0"/>
              </a:spcBef>
            </a:pPr>
            <a:endParaRPr lang="en-US" sz="2699">
              <a:solidFill>
                <a:srgbClr val="000000"/>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EDF0F2">
                    <a:alpha val="0"/>
                  </a:srgbClr>
                </a:gs>
                <a:gs pos="100000">
                  <a:srgbClr val="85878A">
                    <a:alpha val="25000"/>
                  </a:srgbClr>
                </a:gs>
              </a:gsLst>
              <a:lin ang="0"/>
            </a:gradFill>
          </p:spPr>
          <p:txBody>
            <a:bodyPr/>
            <a:lstStyle/>
            <a:p>
              <a:endParaRPr lang="vi-VN"/>
            </a:p>
          </p:txBody>
        </p:sp>
        <p:sp>
          <p:nvSpPr>
            <p:cNvPr id="4" name="TextBox 4"/>
            <p:cNvSpPr txBox="1"/>
            <p:nvPr/>
          </p:nvSpPr>
          <p:spPr>
            <a:xfrm>
              <a:off x="0" y="-9525"/>
              <a:ext cx="2408296" cy="2718858"/>
            </a:xfrm>
            <a:prstGeom prst="rect">
              <a:avLst/>
            </a:prstGeom>
          </p:spPr>
          <p:txBody>
            <a:bodyPr lIns="50800" tIns="50800" rIns="50800" bIns="50800" rtlCol="0" anchor="ctr"/>
            <a:lstStyle/>
            <a:p>
              <a:pPr algn="ctr">
                <a:lnSpc>
                  <a:spcPts val="1800"/>
                </a:lnSpc>
              </a:pPr>
              <a:endParaRPr/>
            </a:p>
          </p:txBody>
        </p:sp>
      </p:grpSp>
      <p:sp>
        <p:nvSpPr>
          <p:cNvPr id="5" name="AutoShape 5"/>
          <p:cNvSpPr/>
          <p:nvPr/>
        </p:nvSpPr>
        <p:spPr>
          <a:xfrm flipV="1">
            <a:off x="1313480" y="1028700"/>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6" name="TextBox 6"/>
          <p:cNvSpPr txBox="1"/>
          <p:nvPr/>
        </p:nvSpPr>
        <p:spPr>
          <a:xfrm>
            <a:off x="5592340" y="1246114"/>
            <a:ext cx="6980660" cy="952501"/>
          </a:xfrm>
          <a:prstGeom prst="rect">
            <a:avLst/>
          </a:prstGeom>
        </p:spPr>
        <p:txBody>
          <a:bodyPr wrap="square" lIns="0" tIns="0" rIns="0" bIns="0" rtlCol="0" anchor="t">
            <a:spAutoFit/>
          </a:bodyPr>
          <a:lstStyle/>
          <a:p>
            <a:pPr algn="ctr">
              <a:lnSpc>
                <a:spcPts val="7799"/>
              </a:lnSpc>
              <a:spcBef>
                <a:spcPct val="0"/>
              </a:spcBef>
            </a:pPr>
            <a:r>
              <a:rPr lang="en-US" sz="5999" b="1" dirty="0" err="1">
                <a:solidFill>
                  <a:srgbClr val="000000"/>
                </a:solidFill>
                <a:latin typeface="Montserrat Bold"/>
                <a:ea typeface="Montserrat Bold"/>
                <a:cs typeface="Montserrat Bold"/>
                <a:sym typeface="Montserrat Bold"/>
              </a:rPr>
              <a:t>Tổng</a:t>
            </a:r>
            <a:r>
              <a:rPr lang="en-US" sz="5999" b="1" dirty="0">
                <a:solidFill>
                  <a:srgbClr val="000000"/>
                </a:solidFill>
                <a:latin typeface="Montserrat Bold"/>
                <a:ea typeface="Montserrat Bold"/>
                <a:cs typeface="Montserrat Bold"/>
                <a:sym typeface="Montserrat Bold"/>
              </a:rPr>
              <a:t> </a:t>
            </a:r>
            <a:r>
              <a:rPr lang="en-US" sz="5999" b="1" dirty="0" err="1">
                <a:solidFill>
                  <a:srgbClr val="000000"/>
                </a:solidFill>
                <a:latin typeface="Montserrat Bold"/>
                <a:ea typeface="Montserrat Bold"/>
                <a:cs typeface="Montserrat Bold"/>
                <a:sym typeface="Montserrat Bold"/>
              </a:rPr>
              <a:t>quan</a:t>
            </a:r>
            <a:r>
              <a:rPr lang="en-US" sz="5999" b="1" dirty="0">
                <a:solidFill>
                  <a:srgbClr val="000000"/>
                </a:solidFill>
                <a:latin typeface="Montserrat Bold"/>
                <a:ea typeface="Montserrat Bold"/>
                <a:cs typeface="Montserrat Bold"/>
                <a:sym typeface="Montserrat Bold"/>
              </a:rPr>
              <a:t> </a:t>
            </a:r>
            <a:r>
              <a:rPr lang="en-US" sz="5999" b="1" dirty="0" err="1">
                <a:solidFill>
                  <a:srgbClr val="000000"/>
                </a:solidFill>
                <a:latin typeface="Montserrat Bold"/>
                <a:ea typeface="Montserrat Bold"/>
                <a:cs typeface="Montserrat Bold"/>
                <a:sym typeface="Montserrat Bold"/>
              </a:rPr>
              <a:t>dự</a:t>
            </a:r>
            <a:r>
              <a:rPr lang="en-US" sz="5999" b="1" dirty="0">
                <a:solidFill>
                  <a:srgbClr val="000000"/>
                </a:solidFill>
                <a:latin typeface="Montserrat Bold"/>
                <a:ea typeface="Montserrat Bold"/>
                <a:cs typeface="Montserrat Bold"/>
                <a:sym typeface="Montserrat Bold"/>
              </a:rPr>
              <a:t> </a:t>
            </a:r>
            <a:r>
              <a:rPr lang="en-US" sz="5999" b="1" dirty="0" err="1">
                <a:solidFill>
                  <a:srgbClr val="000000"/>
                </a:solidFill>
                <a:latin typeface="Montserrat Bold"/>
                <a:ea typeface="Montserrat Bold"/>
                <a:cs typeface="Montserrat Bold"/>
                <a:sym typeface="Montserrat Bold"/>
              </a:rPr>
              <a:t>án</a:t>
            </a:r>
            <a:endParaRPr lang="en-US" sz="5999" b="1" dirty="0">
              <a:solidFill>
                <a:srgbClr val="000000"/>
              </a:solidFill>
              <a:latin typeface="Montserrat Bold"/>
              <a:ea typeface="Montserrat Bold"/>
              <a:cs typeface="Montserrat Bold"/>
              <a:sym typeface="Montserrat Bold"/>
            </a:endParaRPr>
          </a:p>
        </p:txBody>
      </p:sp>
      <p:sp>
        <p:nvSpPr>
          <p:cNvPr id="7" name="TextBox 7"/>
          <p:cNvSpPr txBox="1"/>
          <p:nvPr/>
        </p:nvSpPr>
        <p:spPr>
          <a:xfrm>
            <a:off x="881840" y="2408165"/>
            <a:ext cx="8871760" cy="635001"/>
          </a:xfrm>
          <a:prstGeom prst="rect">
            <a:avLst/>
          </a:prstGeom>
        </p:spPr>
        <p:txBody>
          <a:bodyPr wrap="square" lIns="0" tIns="0" rIns="0" bIns="0" rtlCol="0" anchor="t">
            <a:spAutoFit/>
          </a:bodyPr>
          <a:lstStyle/>
          <a:p>
            <a:pPr algn="ctr">
              <a:lnSpc>
                <a:spcPts val="5199"/>
              </a:lnSpc>
              <a:spcBef>
                <a:spcPct val="0"/>
              </a:spcBef>
            </a:pPr>
            <a:r>
              <a:rPr lang="en-US" sz="3999" dirty="0" err="1">
                <a:solidFill>
                  <a:srgbClr val="000000"/>
                </a:solidFill>
                <a:latin typeface="Montserrat"/>
                <a:ea typeface="Montserrat"/>
                <a:cs typeface="Montserrat"/>
                <a:sym typeface="Montserrat"/>
              </a:rPr>
              <a:t>Mục</a:t>
            </a:r>
            <a:r>
              <a:rPr lang="en-US" sz="3999" dirty="0">
                <a:solidFill>
                  <a:srgbClr val="000000"/>
                </a:solidFill>
                <a:latin typeface="Montserrat"/>
                <a:ea typeface="Montserrat"/>
                <a:cs typeface="Montserrat"/>
                <a:sym typeface="Montserrat"/>
              </a:rPr>
              <a:t> </a:t>
            </a:r>
            <a:r>
              <a:rPr lang="en-US" sz="3999" dirty="0" err="1">
                <a:solidFill>
                  <a:srgbClr val="000000"/>
                </a:solidFill>
                <a:latin typeface="Montserrat"/>
                <a:ea typeface="Montserrat"/>
                <a:cs typeface="Montserrat"/>
                <a:sym typeface="Montserrat"/>
              </a:rPr>
              <a:t>tiêu</a:t>
            </a:r>
            <a:r>
              <a:rPr lang="en-US" sz="3999" dirty="0">
                <a:solidFill>
                  <a:srgbClr val="000000"/>
                </a:solidFill>
                <a:latin typeface="Montserrat"/>
                <a:ea typeface="Montserrat"/>
                <a:cs typeface="Montserrat"/>
                <a:sym typeface="Montserrat"/>
              </a:rPr>
              <a:t> </a:t>
            </a:r>
            <a:r>
              <a:rPr lang="en-US" sz="3999" dirty="0" err="1">
                <a:solidFill>
                  <a:srgbClr val="000000"/>
                </a:solidFill>
                <a:latin typeface="Montserrat"/>
                <a:ea typeface="Montserrat"/>
                <a:cs typeface="Montserrat"/>
                <a:sym typeface="Montserrat"/>
              </a:rPr>
              <a:t>của</a:t>
            </a:r>
            <a:r>
              <a:rPr lang="en-US" sz="3999" dirty="0">
                <a:solidFill>
                  <a:srgbClr val="000000"/>
                </a:solidFill>
                <a:latin typeface="Montserrat"/>
                <a:ea typeface="Montserrat"/>
                <a:cs typeface="Montserrat"/>
                <a:sym typeface="Montserrat"/>
              </a:rPr>
              <a:t> </a:t>
            </a:r>
            <a:r>
              <a:rPr lang="en-US" sz="3999" dirty="0" err="1">
                <a:solidFill>
                  <a:srgbClr val="000000"/>
                </a:solidFill>
                <a:latin typeface="Montserrat"/>
                <a:ea typeface="Montserrat"/>
                <a:cs typeface="Montserrat"/>
                <a:sym typeface="Montserrat"/>
              </a:rPr>
              <a:t>khi</a:t>
            </a:r>
            <a:r>
              <a:rPr lang="en-US" sz="3999" dirty="0">
                <a:solidFill>
                  <a:srgbClr val="000000"/>
                </a:solidFill>
                <a:latin typeface="Montserrat"/>
                <a:ea typeface="Montserrat"/>
                <a:cs typeface="Montserrat"/>
                <a:sym typeface="Montserrat"/>
              </a:rPr>
              <a:t> </a:t>
            </a:r>
            <a:r>
              <a:rPr lang="en-US" sz="3999" dirty="0" err="1">
                <a:solidFill>
                  <a:srgbClr val="000000"/>
                </a:solidFill>
                <a:latin typeface="Montserrat"/>
                <a:ea typeface="Montserrat"/>
                <a:cs typeface="Montserrat"/>
                <a:sym typeface="Montserrat"/>
              </a:rPr>
              <a:t>thực</a:t>
            </a:r>
            <a:r>
              <a:rPr lang="en-US" sz="3999" dirty="0">
                <a:solidFill>
                  <a:srgbClr val="000000"/>
                </a:solidFill>
                <a:latin typeface="Montserrat"/>
                <a:ea typeface="Montserrat"/>
                <a:cs typeface="Montserrat"/>
                <a:sym typeface="Montserrat"/>
              </a:rPr>
              <a:t> </a:t>
            </a:r>
            <a:r>
              <a:rPr lang="en-US" sz="3999" dirty="0" err="1">
                <a:solidFill>
                  <a:srgbClr val="000000"/>
                </a:solidFill>
                <a:latin typeface="Montserrat"/>
                <a:ea typeface="Montserrat"/>
                <a:cs typeface="Montserrat"/>
                <a:sym typeface="Montserrat"/>
              </a:rPr>
              <a:t>hiện</a:t>
            </a:r>
            <a:r>
              <a:rPr lang="en-US" sz="3999" dirty="0">
                <a:solidFill>
                  <a:srgbClr val="000000"/>
                </a:solidFill>
                <a:latin typeface="Montserrat"/>
                <a:ea typeface="Montserrat"/>
                <a:cs typeface="Montserrat"/>
                <a:sym typeface="Montserrat"/>
              </a:rPr>
              <a:t> </a:t>
            </a:r>
            <a:r>
              <a:rPr lang="en-US" sz="3999" dirty="0" err="1">
                <a:solidFill>
                  <a:srgbClr val="000000"/>
                </a:solidFill>
                <a:latin typeface="Montserrat"/>
                <a:ea typeface="Montserrat"/>
                <a:cs typeface="Montserrat"/>
                <a:sym typeface="Montserrat"/>
              </a:rPr>
              <a:t>bài</a:t>
            </a:r>
            <a:r>
              <a:rPr lang="en-US" sz="3999" dirty="0">
                <a:solidFill>
                  <a:srgbClr val="000000"/>
                </a:solidFill>
                <a:latin typeface="Montserrat"/>
                <a:ea typeface="Montserrat"/>
                <a:cs typeface="Montserrat"/>
                <a:sym typeface="Montserrat"/>
              </a:rPr>
              <a:t> </a:t>
            </a:r>
            <a:r>
              <a:rPr lang="en-US" sz="3999" dirty="0" err="1">
                <a:solidFill>
                  <a:srgbClr val="000000"/>
                </a:solidFill>
                <a:latin typeface="Montserrat"/>
                <a:ea typeface="Montserrat"/>
                <a:cs typeface="Montserrat"/>
                <a:sym typeface="Montserrat"/>
              </a:rPr>
              <a:t>tập</a:t>
            </a:r>
            <a:endParaRPr lang="en-US" sz="3999" dirty="0">
              <a:solidFill>
                <a:srgbClr val="000000"/>
              </a:solidFill>
              <a:latin typeface="Montserrat"/>
              <a:ea typeface="Montserrat"/>
              <a:cs typeface="Montserrat"/>
              <a:sym typeface="Montserrat"/>
            </a:endParaRPr>
          </a:p>
        </p:txBody>
      </p:sp>
      <p:sp>
        <p:nvSpPr>
          <p:cNvPr id="8" name="TextBox 8"/>
          <p:cNvSpPr txBox="1"/>
          <p:nvPr/>
        </p:nvSpPr>
        <p:spPr>
          <a:xfrm>
            <a:off x="881840" y="3252715"/>
            <a:ext cx="16524319" cy="4813935"/>
          </a:xfrm>
          <a:prstGeom prst="rect">
            <a:avLst/>
          </a:prstGeom>
        </p:spPr>
        <p:txBody>
          <a:bodyPr lIns="0" tIns="0" rIns="0" bIns="0" rtlCol="0" anchor="t">
            <a:spAutoFit/>
          </a:bodyPr>
          <a:lstStyle/>
          <a:p>
            <a:pPr algn="just">
              <a:lnSpc>
                <a:spcPts val="3509"/>
              </a:lnSpc>
            </a:pPr>
            <a:r>
              <a:rPr lang="en-US" sz="2699">
                <a:solidFill>
                  <a:srgbClr val="000000"/>
                </a:solidFill>
                <a:latin typeface="Montserrat"/>
                <a:ea typeface="Montserrat"/>
                <a:cs typeface="Montserrat"/>
                <a:sym typeface="Montserrat"/>
              </a:rPr>
              <a:t>Mục tiêu của bài tập là:</a:t>
            </a:r>
          </a:p>
          <a:p>
            <a:pPr marL="582927" lvl="1" indent="-291463" algn="just">
              <a:lnSpc>
                <a:spcPts val="3509"/>
              </a:lnSpc>
              <a:buFont typeface="Arial"/>
              <a:buChar char="•"/>
            </a:pPr>
            <a:r>
              <a:rPr lang="en-US" sz="2699">
                <a:solidFill>
                  <a:srgbClr val="000000"/>
                </a:solidFill>
                <a:latin typeface="Montserrat"/>
                <a:ea typeface="Montserrat"/>
                <a:cs typeface="Montserrat"/>
                <a:sym typeface="Montserrat"/>
              </a:rPr>
              <a:t>Hiểu rõ về lỗ hổng bảo mật Cross-Site Scripting (XSS) trong ứng dụng web.</a:t>
            </a:r>
          </a:p>
          <a:p>
            <a:pPr marL="582927" lvl="1" indent="-291463" algn="just">
              <a:lnSpc>
                <a:spcPts val="3509"/>
              </a:lnSpc>
              <a:buFont typeface="Arial"/>
              <a:buChar char="•"/>
            </a:pPr>
            <a:r>
              <a:rPr lang="en-US" sz="2699">
                <a:solidFill>
                  <a:srgbClr val="000000"/>
                </a:solidFill>
                <a:latin typeface="Montserrat"/>
                <a:ea typeface="Montserrat"/>
                <a:cs typeface="Montserrat"/>
                <a:sym typeface="Montserrat"/>
              </a:rPr>
              <a:t>Thực hiện kiểm thử theo phương pháp black-box testing để đánh giá khả năng phòng chống XSS.</a:t>
            </a:r>
          </a:p>
          <a:p>
            <a:pPr marL="582927" lvl="1" indent="-291463" algn="just">
              <a:lnSpc>
                <a:spcPts val="3509"/>
              </a:lnSpc>
              <a:buFont typeface="Arial"/>
              <a:buChar char="•"/>
            </a:pPr>
            <a:r>
              <a:rPr lang="en-US" sz="2699">
                <a:solidFill>
                  <a:srgbClr val="000000"/>
                </a:solidFill>
                <a:latin typeface="Montserrat"/>
                <a:ea typeface="Montserrat"/>
                <a:cs typeface="Montserrat"/>
                <a:sym typeface="Montserrat"/>
              </a:rPr>
              <a:t>Kiểm tra hiệu quả của các cơ chế bảo mật như:</a:t>
            </a:r>
          </a:p>
          <a:p>
            <a:pPr marL="1165854" lvl="2" indent="-388618" algn="just">
              <a:lnSpc>
                <a:spcPts val="3509"/>
              </a:lnSpc>
              <a:buFont typeface="Arial"/>
              <a:buChar char="⚬"/>
            </a:pPr>
            <a:r>
              <a:rPr lang="en-US" sz="2699">
                <a:solidFill>
                  <a:srgbClr val="000000"/>
                </a:solidFill>
                <a:latin typeface="Montserrat"/>
                <a:ea typeface="Montserrat"/>
                <a:cs typeface="Montserrat"/>
                <a:sym typeface="Montserrat"/>
              </a:rPr>
              <a:t>Output Encoding</a:t>
            </a:r>
          </a:p>
          <a:p>
            <a:pPr marL="1165854" lvl="2" indent="-388618" algn="just">
              <a:lnSpc>
                <a:spcPts val="3509"/>
              </a:lnSpc>
              <a:buFont typeface="Arial"/>
              <a:buChar char="⚬"/>
            </a:pPr>
            <a:r>
              <a:rPr lang="en-US" sz="2699">
                <a:solidFill>
                  <a:srgbClr val="000000"/>
                </a:solidFill>
                <a:latin typeface="Montserrat"/>
                <a:ea typeface="Montserrat"/>
                <a:cs typeface="Montserrat"/>
                <a:sym typeface="Montserrat"/>
              </a:rPr>
              <a:t>Content Security Policy (CSP)</a:t>
            </a:r>
          </a:p>
          <a:p>
            <a:pPr marL="582927" lvl="1" indent="-291463" algn="just">
              <a:lnSpc>
                <a:spcPts val="3509"/>
              </a:lnSpc>
              <a:buFont typeface="Arial"/>
              <a:buChar char="•"/>
            </a:pPr>
            <a:r>
              <a:rPr lang="en-US" sz="2699">
                <a:solidFill>
                  <a:srgbClr val="000000"/>
                </a:solidFill>
                <a:latin typeface="Montserrat"/>
                <a:ea typeface="Montserrat"/>
                <a:cs typeface="Montserrat"/>
                <a:sym typeface="Montserrat"/>
              </a:rPr>
              <a:t>Thiết kế và thực thi các test case để phát hiện lỗi.</a:t>
            </a:r>
          </a:p>
          <a:p>
            <a:pPr marL="582927" lvl="1" indent="-291463" algn="just">
              <a:lnSpc>
                <a:spcPts val="3509"/>
              </a:lnSpc>
              <a:buFont typeface="Arial"/>
              <a:buChar char="•"/>
            </a:pPr>
            <a:r>
              <a:rPr lang="en-US" sz="2699">
                <a:solidFill>
                  <a:srgbClr val="000000"/>
                </a:solidFill>
                <a:latin typeface="Montserrat"/>
                <a:ea typeface="Montserrat"/>
                <a:cs typeface="Montserrat"/>
                <a:sym typeface="Montserrat"/>
              </a:rPr>
              <a:t>Ghi nhận kết quả kiểm thử và tổng hợp thành báo cáo.</a:t>
            </a:r>
          </a:p>
          <a:p>
            <a:pPr marL="582927" lvl="1" indent="-291463" algn="just">
              <a:lnSpc>
                <a:spcPts val="3509"/>
              </a:lnSpc>
              <a:spcBef>
                <a:spcPct val="0"/>
              </a:spcBef>
              <a:buFont typeface="Arial"/>
              <a:buChar char="•"/>
            </a:pPr>
            <a:r>
              <a:rPr lang="en-US" sz="2699">
                <a:solidFill>
                  <a:srgbClr val="000000"/>
                </a:solidFill>
                <a:latin typeface="Montserrat"/>
                <a:ea typeface="Montserrat"/>
                <a:cs typeface="Montserrat"/>
                <a:sym typeface="Montserrat"/>
              </a:rPr>
              <a:t>Đánh giá mức độ an toàn của ứng dụng dựa trên kết quả kiểm thử.</a:t>
            </a:r>
          </a:p>
          <a:p>
            <a:pPr algn="just">
              <a:lnSpc>
                <a:spcPts val="3509"/>
              </a:lnSpc>
              <a:spcBef>
                <a:spcPct val="0"/>
              </a:spcBef>
            </a:pPr>
            <a:endParaRPr lang="en-US" sz="2699">
              <a:solidFill>
                <a:srgbClr val="000000"/>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EDF0F2">
                    <a:alpha val="0"/>
                  </a:srgbClr>
                </a:gs>
                <a:gs pos="100000">
                  <a:srgbClr val="85878A">
                    <a:alpha val="25000"/>
                  </a:srgbClr>
                </a:gs>
              </a:gsLst>
              <a:lin ang="0"/>
            </a:gradFill>
          </p:spPr>
          <p:txBody>
            <a:bodyPr/>
            <a:lstStyle/>
            <a:p>
              <a:endParaRPr lang="vi-VN"/>
            </a:p>
          </p:txBody>
        </p:sp>
        <p:sp>
          <p:nvSpPr>
            <p:cNvPr id="4" name="TextBox 4"/>
            <p:cNvSpPr txBox="1"/>
            <p:nvPr/>
          </p:nvSpPr>
          <p:spPr>
            <a:xfrm>
              <a:off x="0" y="-9525"/>
              <a:ext cx="2408296" cy="2718858"/>
            </a:xfrm>
            <a:prstGeom prst="rect">
              <a:avLst/>
            </a:prstGeom>
          </p:spPr>
          <p:txBody>
            <a:bodyPr lIns="50800" tIns="50800" rIns="50800" bIns="50800" rtlCol="0" anchor="ctr"/>
            <a:lstStyle/>
            <a:p>
              <a:pPr algn="ctr">
                <a:lnSpc>
                  <a:spcPts val="1800"/>
                </a:lnSpc>
              </a:pPr>
              <a:endParaRPr/>
            </a:p>
          </p:txBody>
        </p:sp>
      </p:grpSp>
      <p:sp>
        <p:nvSpPr>
          <p:cNvPr id="5" name="AutoShape 5"/>
          <p:cNvSpPr/>
          <p:nvPr/>
        </p:nvSpPr>
        <p:spPr>
          <a:xfrm flipV="1">
            <a:off x="1313480" y="1028700"/>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6" name="TextBox 6"/>
          <p:cNvSpPr txBox="1"/>
          <p:nvPr/>
        </p:nvSpPr>
        <p:spPr>
          <a:xfrm>
            <a:off x="5592340" y="1246114"/>
            <a:ext cx="6828260" cy="952501"/>
          </a:xfrm>
          <a:prstGeom prst="rect">
            <a:avLst/>
          </a:prstGeom>
        </p:spPr>
        <p:txBody>
          <a:bodyPr wrap="square" lIns="0" tIns="0" rIns="0" bIns="0" rtlCol="0" anchor="t">
            <a:spAutoFit/>
          </a:bodyPr>
          <a:lstStyle/>
          <a:p>
            <a:pPr algn="ctr">
              <a:lnSpc>
                <a:spcPts val="7799"/>
              </a:lnSpc>
              <a:spcBef>
                <a:spcPct val="0"/>
              </a:spcBef>
            </a:pPr>
            <a:r>
              <a:rPr lang="en-US" sz="5999" b="1" dirty="0" err="1">
                <a:solidFill>
                  <a:srgbClr val="000000"/>
                </a:solidFill>
                <a:latin typeface="Montserrat Bold"/>
                <a:ea typeface="Montserrat Bold"/>
                <a:cs typeface="Montserrat Bold"/>
                <a:sym typeface="Montserrat Bold"/>
              </a:rPr>
              <a:t>Tổng</a:t>
            </a:r>
            <a:r>
              <a:rPr lang="en-US" sz="5999" b="1" dirty="0">
                <a:solidFill>
                  <a:srgbClr val="000000"/>
                </a:solidFill>
                <a:latin typeface="Montserrat Bold"/>
                <a:ea typeface="Montserrat Bold"/>
                <a:cs typeface="Montserrat Bold"/>
                <a:sym typeface="Montserrat Bold"/>
              </a:rPr>
              <a:t> </a:t>
            </a:r>
            <a:r>
              <a:rPr lang="en-US" sz="5999" b="1" dirty="0" err="1">
                <a:solidFill>
                  <a:srgbClr val="000000"/>
                </a:solidFill>
                <a:latin typeface="Montserrat Bold"/>
                <a:ea typeface="Montserrat Bold"/>
                <a:cs typeface="Montserrat Bold"/>
                <a:sym typeface="Montserrat Bold"/>
              </a:rPr>
              <a:t>quan</a:t>
            </a:r>
            <a:r>
              <a:rPr lang="en-US" sz="5999" b="1" dirty="0">
                <a:solidFill>
                  <a:srgbClr val="000000"/>
                </a:solidFill>
                <a:latin typeface="Montserrat Bold"/>
                <a:ea typeface="Montserrat Bold"/>
                <a:cs typeface="Montserrat Bold"/>
                <a:sym typeface="Montserrat Bold"/>
              </a:rPr>
              <a:t> </a:t>
            </a:r>
            <a:r>
              <a:rPr lang="en-US" sz="5999" b="1" dirty="0" err="1">
                <a:solidFill>
                  <a:srgbClr val="000000"/>
                </a:solidFill>
                <a:latin typeface="Montserrat Bold"/>
                <a:ea typeface="Montserrat Bold"/>
                <a:cs typeface="Montserrat Bold"/>
                <a:sym typeface="Montserrat Bold"/>
              </a:rPr>
              <a:t>dự</a:t>
            </a:r>
            <a:r>
              <a:rPr lang="en-US" sz="5999" b="1" dirty="0">
                <a:solidFill>
                  <a:srgbClr val="000000"/>
                </a:solidFill>
                <a:latin typeface="Montserrat Bold"/>
                <a:ea typeface="Montserrat Bold"/>
                <a:cs typeface="Montserrat Bold"/>
                <a:sym typeface="Montserrat Bold"/>
              </a:rPr>
              <a:t> </a:t>
            </a:r>
            <a:r>
              <a:rPr lang="en-US" sz="5999" b="1" dirty="0" err="1">
                <a:solidFill>
                  <a:srgbClr val="000000"/>
                </a:solidFill>
                <a:latin typeface="Montserrat Bold"/>
                <a:ea typeface="Montserrat Bold"/>
                <a:cs typeface="Montserrat Bold"/>
                <a:sym typeface="Montserrat Bold"/>
              </a:rPr>
              <a:t>án</a:t>
            </a:r>
            <a:endParaRPr lang="en-US" sz="5999" b="1" dirty="0">
              <a:solidFill>
                <a:srgbClr val="000000"/>
              </a:solidFill>
              <a:latin typeface="Montserrat Bold"/>
              <a:ea typeface="Montserrat Bold"/>
              <a:cs typeface="Montserrat Bold"/>
              <a:sym typeface="Montserrat Bold"/>
            </a:endParaRPr>
          </a:p>
        </p:txBody>
      </p:sp>
      <p:sp>
        <p:nvSpPr>
          <p:cNvPr id="7" name="TextBox 7"/>
          <p:cNvSpPr txBox="1"/>
          <p:nvPr/>
        </p:nvSpPr>
        <p:spPr>
          <a:xfrm>
            <a:off x="1028700" y="2872242"/>
            <a:ext cx="15833526" cy="635001"/>
          </a:xfrm>
          <a:prstGeom prst="rect">
            <a:avLst/>
          </a:prstGeom>
        </p:spPr>
        <p:txBody>
          <a:bodyPr lIns="0" tIns="0" rIns="0" bIns="0" rtlCol="0" anchor="t">
            <a:spAutoFit/>
          </a:bodyPr>
          <a:lstStyle/>
          <a:p>
            <a:pPr algn="ctr">
              <a:lnSpc>
                <a:spcPts val="5199"/>
              </a:lnSpc>
              <a:spcBef>
                <a:spcPct val="0"/>
              </a:spcBef>
            </a:pPr>
            <a:r>
              <a:rPr lang="en-US" sz="3999">
                <a:solidFill>
                  <a:srgbClr val="000000"/>
                </a:solidFill>
                <a:latin typeface="Montserrat"/>
                <a:ea typeface="Montserrat"/>
                <a:cs typeface="Montserrat"/>
                <a:sym typeface="Montserrat"/>
              </a:rPr>
              <a:t>Công nghệ / nền tảng của ứng dụng (web, mobile, desktop)</a:t>
            </a:r>
          </a:p>
        </p:txBody>
      </p:sp>
      <p:sp>
        <p:nvSpPr>
          <p:cNvPr id="8" name="TextBox 8"/>
          <p:cNvSpPr txBox="1"/>
          <p:nvPr/>
        </p:nvSpPr>
        <p:spPr>
          <a:xfrm>
            <a:off x="1313480" y="3943759"/>
            <a:ext cx="16524319" cy="3499485"/>
          </a:xfrm>
          <a:prstGeom prst="rect">
            <a:avLst/>
          </a:prstGeom>
        </p:spPr>
        <p:txBody>
          <a:bodyPr lIns="0" tIns="0" rIns="0" bIns="0" rtlCol="0" anchor="t">
            <a:spAutoFit/>
          </a:bodyPr>
          <a:lstStyle/>
          <a:p>
            <a:pPr algn="just">
              <a:lnSpc>
                <a:spcPts val="3509"/>
              </a:lnSpc>
            </a:pPr>
            <a:r>
              <a:rPr lang="en-US" sz="2699" dirty="0">
                <a:solidFill>
                  <a:srgbClr val="000000"/>
                </a:solidFill>
                <a:latin typeface="Montserrat"/>
                <a:ea typeface="Montserrat"/>
                <a:cs typeface="Montserrat"/>
                <a:sym typeface="Montserrat"/>
              </a:rPr>
              <a:t>OWASP Juice Shop </a:t>
            </a:r>
            <a:r>
              <a:rPr lang="en-US" sz="2699" dirty="0" err="1">
                <a:solidFill>
                  <a:srgbClr val="000000"/>
                </a:solidFill>
                <a:latin typeface="Montserrat"/>
                <a:ea typeface="Montserrat"/>
                <a:cs typeface="Montserrat"/>
                <a:sym typeface="Montserrat"/>
              </a:rPr>
              <a:t>là</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một</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ứng</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dụng</a:t>
            </a:r>
            <a:r>
              <a:rPr lang="en-US" sz="2699" dirty="0">
                <a:solidFill>
                  <a:srgbClr val="000000"/>
                </a:solidFill>
                <a:latin typeface="Montserrat"/>
                <a:ea typeface="Montserrat"/>
                <a:cs typeface="Montserrat"/>
                <a:sym typeface="Montserrat"/>
              </a:rPr>
              <a:t> web </a:t>
            </a:r>
            <a:r>
              <a:rPr lang="en-US" sz="2699" dirty="0" err="1">
                <a:solidFill>
                  <a:srgbClr val="000000"/>
                </a:solidFill>
                <a:latin typeface="Montserrat"/>
                <a:ea typeface="Montserrat"/>
                <a:cs typeface="Montserrat"/>
                <a:sym typeface="Montserrat"/>
              </a:rPr>
              <a:t>được</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phát</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triển</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trên</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nền</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tảng</a:t>
            </a:r>
            <a:r>
              <a:rPr lang="en-US" sz="2699" dirty="0">
                <a:solidFill>
                  <a:srgbClr val="000000"/>
                </a:solidFill>
                <a:latin typeface="Montserrat"/>
                <a:ea typeface="Montserrat"/>
                <a:cs typeface="Montserrat"/>
                <a:sym typeface="Montserrat"/>
              </a:rPr>
              <a:t>:</a:t>
            </a:r>
          </a:p>
          <a:p>
            <a:pPr marL="582927" lvl="1" indent="-291463" algn="just">
              <a:lnSpc>
                <a:spcPts val="3509"/>
              </a:lnSpc>
              <a:buFont typeface="Arial"/>
              <a:buChar char="•"/>
            </a:pPr>
            <a:r>
              <a:rPr lang="en-US" sz="2699" dirty="0">
                <a:solidFill>
                  <a:srgbClr val="000000"/>
                </a:solidFill>
                <a:latin typeface="Montserrat"/>
                <a:ea typeface="Montserrat"/>
                <a:cs typeface="Montserrat"/>
                <a:sym typeface="Montserrat"/>
              </a:rPr>
              <a:t>Frontend: Angular (JavaScript framework)</a:t>
            </a:r>
          </a:p>
          <a:p>
            <a:pPr marL="582927" lvl="1" indent="-291463" algn="just">
              <a:lnSpc>
                <a:spcPts val="3509"/>
              </a:lnSpc>
              <a:buFont typeface="Arial"/>
              <a:buChar char="•"/>
            </a:pPr>
            <a:r>
              <a:rPr lang="en-US" sz="2699" dirty="0">
                <a:solidFill>
                  <a:srgbClr val="000000"/>
                </a:solidFill>
                <a:latin typeface="Montserrat"/>
                <a:ea typeface="Montserrat"/>
                <a:cs typeface="Montserrat"/>
                <a:sym typeface="Montserrat"/>
              </a:rPr>
              <a:t>Backend: Node.js (Express framework)</a:t>
            </a:r>
          </a:p>
          <a:p>
            <a:pPr marL="582927" lvl="1" indent="-291463" algn="just">
              <a:lnSpc>
                <a:spcPts val="3509"/>
              </a:lnSpc>
              <a:buFont typeface="Arial"/>
              <a:buChar char="•"/>
            </a:pPr>
            <a:r>
              <a:rPr lang="en-US" sz="2699" dirty="0">
                <a:solidFill>
                  <a:srgbClr val="000000"/>
                </a:solidFill>
                <a:latin typeface="Montserrat"/>
                <a:ea typeface="Montserrat"/>
                <a:cs typeface="Montserrat"/>
                <a:sym typeface="Montserrat"/>
              </a:rPr>
              <a:t>Database: SQLite / NoSQL (</a:t>
            </a:r>
            <a:r>
              <a:rPr lang="en-US" sz="2699" dirty="0" err="1">
                <a:solidFill>
                  <a:srgbClr val="000000"/>
                </a:solidFill>
                <a:latin typeface="Montserrat"/>
                <a:ea typeface="Montserrat"/>
                <a:cs typeface="Montserrat"/>
                <a:sym typeface="Montserrat"/>
              </a:rPr>
              <a:t>tùy</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cấu</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hình</a:t>
            </a:r>
            <a:r>
              <a:rPr lang="en-US" sz="2699" dirty="0">
                <a:solidFill>
                  <a:srgbClr val="000000"/>
                </a:solidFill>
                <a:latin typeface="Montserrat"/>
                <a:ea typeface="Montserrat"/>
                <a:cs typeface="Montserrat"/>
                <a:sym typeface="Montserrat"/>
              </a:rPr>
              <a:t>)</a:t>
            </a:r>
          </a:p>
          <a:p>
            <a:pPr marL="582927" lvl="1" indent="-291463" algn="just">
              <a:lnSpc>
                <a:spcPts val="3509"/>
              </a:lnSpc>
              <a:buFont typeface="Arial"/>
              <a:buChar char="•"/>
            </a:pPr>
            <a:r>
              <a:rPr lang="en-US" sz="2699" dirty="0" err="1">
                <a:solidFill>
                  <a:srgbClr val="000000"/>
                </a:solidFill>
                <a:latin typeface="Montserrat"/>
                <a:ea typeface="Montserrat"/>
                <a:cs typeface="Montserrat"/>
                <a:sym typeface="Montserrat"/>
              </a:rPr>
              <a:t>Môi</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trường</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chạy</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Trình</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duyệt</a:t>
            </a:r>
            <a:r>
              <a:rPr lang="en-US" sz="2699" dirty="0">
                <a:solidFill>
                  <a:srgbClr val="000000"/>
                </a:solidFill>
                <a:latin typeface="Montserrat"/>
                <a:ea typeface="Montserrat"/>
                <a:cs typeface="Montserrat"/>
                <a:sym typeface="Montserrat"/>
              </a:rPr>
              <a:t> web (Chrome, Edge,…)</a:t>
            </a:r>
          </a:p>
          <a:p>
            <a:pPr algn="just">
              <a:lnSpc>
                <a:spcPts val="3509"/>
              </a:lnSpc>
              <a:spcBef>
                <a:spcPct val="0"/>
              </a:spcBef>
            </a:pPr>
            <a:r>
              <a:rPr lang="en-US" sz="2699" dirty="0" err="1">
                <a:solidFill>
                  <a:srgbClr val="000000"/>
                </a:solidFill>
                <a:latin typeface="Montserrat"/>
                <a:ea typeface="Montserrat"/>
                <a:cs typeface="Montserrat"/>
                <a:sym typeface="Montserrat"/>
              </a:rPr>
              <a:t>Ứng</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dụng</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được</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triển</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khai</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và</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chạy</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trên</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môi</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trường</a:t>
            </a:r>
            <a:r>
              <a:rPr lang="en-US" sz="2699" dirty="0">
                <a:solidFill>
                  <a:srgbClr val="000000"/>
                </a:solidFill>
                <a:latin typeface="Montserrat"/>
                <a:ea typeface="Montserrat"/>
                <a:cs typeface="Montserrat"/>
                <a:sym typeface="Montserrat"/>
              </a:rPr>
              <a:t> local </a:t>
            </a:r>
            <a:r>
              <a:rPr lang="en-US" sz="2699" dirty="0" err="1">
                <a:solidFill>
                  <a:srgbClr val="000000"/>
                </a:solidFill>
                <a:latin typeface="Montserrat"/>
                <a:ea typeface="Montserrat"/>
                <a:cs typeface="Montserrat"/>
                <a:sym typeface="Montserrat"/>
              </a:rPr>
              <a:t>thông</a:t>
            </a:r>
            <a:r>
              <a:rPr lang="en-US" sz="2699" dirty="0">
                <a:solidFill>
                  <a:srgbClr val="000000"/>
                </a:solidFill>
                <a:latin typeface="Montserrat"/>
                <a:ea typeface="Montserrat"/>
                <a:cs typeface="Montserrat"/>
                <a:sym typeface="Montserrat"/>
              </a:rPr>
              <a:t> qua Node.js, </a:t>
            </a:r>
            <a:r>
              <a:rPr lang="en-US" sz="2699" dirty="0" err="1">
                <a:solidFill>
                  <a:srgbClr val="000000"/>
                </a:solidFill>
                <a:latin typeface="Montserrat"/>
                <a:ea typeface="Montserrat"/>
                <a:cs typeface="Montserrat"/>
                <a:sym typeface="Montserrat"/>
              </a:rPr>
              <a:t>cho</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phép</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người</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kiểm</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thử</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dễ</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dàng</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tương</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tác</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và</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kiểm</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tra</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các</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chức</a:t>
            </a:r>
            <a:r>
              <a:rPr lang="en-US" sz="2699" dirty="0">
                <a:solidFill>
                  <a:srgbClr val="000000"/>
                </a:solidFill>
                <a:latin typeface="Montserrat"/>
                <a:ea typeface="Montserrat"/>
                <a:cs typeface="Montserrat"/>
                <a:sym typeface="Montserrat"/>
              </a:rPr>
              <a:t> </a:t>
            </a:r>
            <a:r>
              <a:rPr lang="en-US" sz="2699" dirty="0" err="1">
                <a:solidFill>
                  <a:srgbClr val="000000"/>
                </a:solidFill>
                <a:latin typeface="Montserrat"/>
                <a:ea typeface="Montserrat"/>
                <a:cs typeface="Montserrat"/>
                <a:sym typeface="Montserrat"/>
              </a:rPr>
              <a:t>năng</a:t>
            </a:r>
            <a:r>
              <a:rPr lang="en-US" sz="2699" dirty="0">
                <a:solidFill>
                  <a:srgbClr val="000000"/>
                </a:solidFill>
                <a:latin typeface="Montserrat"/>
                <a:ea typeface="Montserrat"/>
                <a:cs typeface="Montserrat"/>
                <a:sym typeface="Montserrat"/>
              </a:rPr>
              <a:t>.</a:t>
            </a:r>
          </a:p>
          <a:p>
            <a:pPr algn="just">
              <a:lnSpc>
                <a:spcPts val="3509"/>
              </a:lnSpc>
              <a:spcBef>
                <a:spcPct val="0"/>
              </a:spcBef>
            </a:pPr>
            <a:endParaRPr lang="en-US" sz="2699" dirty="0">
              <a:solidFill>
                <a:srgbClr val="000000"/>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EDF0F2">
                    <a:alpha val="0"/>
                  </a:srgbClr>
                </a:gs>
                <a:gs pos="100000">
                  <a:srgbClr val="85878A">
                    <a:alpha val="25000"/>
                  </a:srgbClr>
                </a:gs>
              </a:gsLst>
              <a:lin ang="0"/>
            </a:gradFill>
          </p:spPr>
          <p:txBody>
            <a:bodyPr/>
            <a:lstStyle/>
            <a:p>
              <a:endParaRPr lang="vi-VN"/>
            </a:p>
          </p:txBody>
        </p:sp>
        <p:sp>
          <p:nvSpPr>
            <p:cNvPr id="4" name="TextBox 4"/>
            <p:cNvSpPr txBox="1"/>
            <p:nvPr/>
          </p:nvSpPr>
          <p:spPr>
            <a:xfrm>
              <a:off x="0" y="-9525"/>
              <a:ext cx="2408296" cy="2718858"/>
            </a:xfrm>
            <a:prstGeom prst="rect">
              <a:avLst/>
            </a:prstGeom>
          </p:spPr>
          <p:txBody>
            <a:bodyPr lIns="50800" tIns="50800" rIns="50800" bIns="50800" rtlCol="0" anchor="ctr"/>
            <a:lstStyle/>
            <a:p>
              <a:pPr algn="ctr">
                <a:lnSpc>
                  <a:spcPts val="1800"/>
                </a:lnSpc>
              </a:pPr>
              <a:endParaRPr/>
            </a:p>
          </p:txBody>
        </p:sp>
      </p:grpSp>
      <p:sp>
        <p:nvSpPr>
          <p:cNvPr id="5" name="AutoShape 5"/>
          <p:cNvSpPr/>
          <p:nvPr/>
        </p:nvSpPr>
        <p:spPr>
          <a:xfrm flipV="1">
            <a:off x="1313480" y="1028700"/>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6" name="Freeform 6"/>
          <p:cNvSpPr/>
          <p:nvPr/>
        </p:nvSpPr>
        <p:spPr>
          <a:xfrm>
            <a:off x="2604045" y="1216603"/>
            <a:ext cx="13079910" cy="8207644"/>
          </a:xfrm>
          <a:custGeom>
            <a:avLst/>
            <a:gdLst/>
            <a:ahLst/>
            <a:cxnLst/>
            <a:rect l="l" t="t" r="r" b="b"/>
            <a:pathLst>
              <a:path w="13079910" h="8207644">
                <a:moveTo>
                  <a:pt x="0" y="0"/>
                </a:moveTo>
                <a:lnTo>
                  <a:pt x="13079910" y="0"/>
                </a:lnTo>
                <a:lnTo>
                  <a:pt x="13079910" y="8207643"/>
                </a:lnTo>
                <a:lnTo>
                  <a:pt x="0" y="8207643"/>
                </a:lnTo>
                <a:lnTo>
                  <a:pt x="0" y="0"/>
                </a:lnTo>
                <a:close/>
              </a:path>
            </a:pathLst>
          </a:custGeom>
          <a:blipFill>
            <a:blip r:embed="rId2"/>
            <a:stretch>
              <a:fillRect/>
            </a:stretch>
          </a:blipFill>
        </p:spPr>
        <p:txBody>
          <a:bodyPr/>
          <a:lstStyle/>
          <a:p>
            <a:endParaRPr lang="vi-VN"/>
          </a:p>
        </p:txBody>
      </p:sp>
      <p:sp>
        <p:nvSpPr>
          <p:cNvPr id="7" name="TextBox 7"/>
          <p:cNvSpPr txBox="1"/>
          <p:nvPr/>
        </p:nvSpPr>
        <p:spPr>
          <a:xfrm>
            <a:off x="7058430" y="95249"/>
            <a:ext cx="3914370" cy="952501"/>
          </a:xfrm>
          <a:prstGeom prst="rect">
            <a:avLst/>
          </a:prstGeom>
        </p:spPr>
        <p:txBody>
          <a:bodyPr wrap="square" lIns="0" tIns="0" rIns="0" bIns="0" rtlCol="0" anchor="t">
            <a:spAutoFit/>
          </a:bodyPr>
          <a:lstStyle/>
          <a:p>
            <a:pPr algn="ctr">
              <a:lnSpc>
                <a:spcPts val="7799"/>
              </a:lnSpc>
              <a:spcBef>
                <a:spcPct val="0"/>
              </a:spcBef>
            </a:pPr>
            <a:r>
              <a:rPr lang="en-US" sz="5999" b="1" dirty="0">
                <a:solidFill>
                  <a:srgbClr val="000000"/>
                </a:solidFill>
                <a:latin typeface="Montserrat Bold"/>
                <a:ea typeface="Montserrat Bold"/>
                <a:cs typeface="Montserrat Bold"/>
                <a:sym typeface="Montserrat Bold"/>
              </a:rPr>
              <a:t>Testcase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EDF0F2">
                    <a:alpha val="0"/>
                  </a:srgbClr>
                </a:gs>
                <a:gs pos="100000">
                  <a:srgbClr val="85878A">
                    <a:alpha val="25000"/>
                  </a:srgbClr>
                </a:gs>
              </a:gsLst>
              <a:lin ang="0"/>
            </a:gradFill>
          </p:spPr>
          <p:txBody>
            <a:bodyPr/>
            <a:lstStyle/>
            <a:p>
              <a:endParaRPr lang="vi-VN"/>
            </a:p>
          </p:txBody>
        </p:sp>
        <p:sp>
          <p:nvSpPr>
            <p:cNvPr id="4" name="TextBox 4"/>
            <p:cNvSpPr txBox="1"/>
            <p:nvPr/>
          </p:nvSpPr>
          <p:spPr>
            <a:xfrm>
              <a:off x="0" y="-9525"/>
              <a:ext cx="2408296" cy="2718858"/>
            </a:xfrm>
            <a:prstGeom prst="rect">
              <a:avLst/>
            </a:prstGeom>
          </p:spPr>
          <p:txBody>
            <a:bodyPr lIns="50800" tIns="50800" rIns="50800" bIns="50800" rtlCol="0" anchor="ctr"/>
            <a:lstStyle/>
            <a:p>
              <a:pPr algn="ctr">
                <a:lnSpc>
                  <a:spcPts val="1800"/>
                </a:lnSpc>
              </a:pPr>
              <a:endParaRPr/>
            </a:p>
          </p:txBody>
        </p:sp>
      </p:grpSp>
      <p:sp>
        <p:nvSpPr>
          <p:cNvPr id="5" name="AutoShape 5"/>
          <p:cNvSpPr/>
          <p:nvPr/>
        </p:nvSpPr>
        <p:spPr>
          <a:xfrm flipV="1">
            <a:off x="1313480" y="1028700"/>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6" name="Freeform 6"/>
          <p:cNvSpPr/>
          <p:nvPr/>
        </p:nvSpPr>
        <p:spPr>
          <a:xfrm>
            <a:off x="2580852" y="1447284"/>
            <a:ext cx="12921497" cy="8382821"/>
          </a:xfrm>
          <a:custGeom>
            <a:avLst/>
            <a:gdLst/>
            <a:ahLst/>
            <a:cxnLst/>
            <a:rect l="l" t="t" r="r" b="b"/>
            <a:pathLst>
              <a:path w="12921497" h="8382821">
                <a:moveTo>
                  <a:pt x="0" y="0"/>
                </a:moveTo>
                <a:lnTo>
                  <a:pt x="12921497" y="0"/>
                </a:lnTo>
                <a:lnTo>
                  <a:pt x="12921497" y="8382822"/>
                </a:lnTo>
                <a:lnTo>
                  <a:pt x="0" y="8382822"/>
                </a:lnTo>
                <a:lnTo>
                  <a:pt x="0" y="0"/>
                </a:lnTo>
                <a:close/>
              </a:path>
            </a:pathLst>
          </a:custGeom>
          <a:blipFill>
            <a:blip r:embed="rId2"/>
            <a:stretch>
              <a:fillRect/>
            </a:stretch>
          </a:blipFill>
        </p:spPr>
        <p:txBody>
          <a:bodyPr/>
          <a:lstStyle/>
          <a:p>
            <a:endParaRPr lang="vi-VN"/>
          </a:p>
        </p:txBody>
      </p:sp>
      <p:sp>
        <p:nvSpPr>
          <p:cNvPr id="7" name="TextBox 7"/>
          <p:cNvSpPr txBox="1"/>
          <p:nvPr/>
        </p:nvSpPr>
        <p:spPr>
          <a:xfrm>
            <a:off x="7004573" y="95249"/>
            <a:ext cx="3663427" cy="952501"/>
          </a:xfrm>
          <a:prstGeom prst="rect">
            <a:avLst/>
          </a:prstGeom>
        </p:spPr>
        <p:txBody>
          <a:bodyPr wrap="square" lIns="0" tIns="0" rIns="0" bIns="0" rtlCol="0" anchor="t">
            <a:spAutoFit/>
          </a:bodyPr>
          <a:lstStyle/>
          <a:p>
            <a:pPr algn="ctr">
              <a:lnSpc>
                <a:spcPts val="7799"/>
              </a:lnSpc>
              <a:spcBef>
                <a:spcPct val="0"/>
              </a:spcBef>
            </a:pPr>
            <a:r>
              <a:rPr lang="en-US" sz="5999" b="1" dirty="0">
                <a:solidFill>
                  <a:srgbClr val="000000"/>
                </a:solidFill>
                <a:latin typeface="Montserrat Bold"/>
                <a:ea typeface="Montserrat Bold"/>
                <a:cs typeface="Montserrat Bold"/>
                <a:sym typeface="Montserrat Bold"/>
              </a:rPr>
              <a:t>Testcase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EDF0F2">
                    <a:alpha val="0"/>
                  </a:srgbClr>
                </a:gs>
                <a:gs pos="100000">
                  <a:srgbClr val="85878A">
                    <a:alpha val="25000"/>
                  </a:srgbClr>
                </a:gs>
              </a:gsLst>
              <a:lin ang="0"/>
            </a:gradFill>
          </p:spPr>
          <p:txBody>
            <a:bodyPr/>
            <a:lstStyle/>
            <a:p>
              <a:endParaRPr lang="vi-VN"/>
            </a:p>
          </p:txBody>
        </p:sp>
        <p:sp>
          <p:nvSpPr>
            <p:cNvPr id="4" name="TextBox 4"/>
            <p:cNvSpPr txBox="1"/>
            <p:nvPr/>
          </p:nvSpPr>
          <p:spPr>
            <a:xfrm>
              <a:off x="0" y="-9525"/>
              <a:ext cx="2408296" cy="2718858"/>
            </a:xfrm>
            <a:prstGeom prst="rect">
              <a:avLst/>
            </a:prstGeom>
          </p:spPr>
          <p:txBody>
            <a:bodyPr lIns="50800" tIns="50800" rIns="50800" bIns="50800" rtlCol="0" anchor="ctr"/>
            <a:lstStyle/>
            <a:p>
              <a:pPr algn="ctr">
                <a:lnSpc>
                  <a:spcPts val="1800"/>
                </a:lnSpc>
              </a:pPr>
              <a:endParaRPr/>
            </a:p>
          </p:txBody>
        </p:sp>
      </p:grpSp>
      <p:sp>
        <p:nvSpPr>
          <p:cNvPr id="5" name="AutoShape 5"/>
          <p:cNvSpPr/>
          <p:nvPr/>
        </p:nvSpPr>
        <p:spPr>
          <a:xfrm flipV="1">
            <a:off x="1313480" y="1028700"/>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6" name="Freeform 6"/>
          <p:cNvSpPr/>
          <p:nvPr/>
        </p:nvSpPr>
        <p:spPr>
          <a:xfrm>
            <a:off x="2399073" y="1298693"/>
            <a:ext cx="13489853" cy="8313122"/>
          </a:xfrm>
          <a:custGeom>
            <a:avLst/>
            <a:gdLst/>
            <a:ahLst/>
            <a:cxnLst/>
            <a:rect l="l" t="t" r="r" b="b"/>
            <a:pathLst>
              <a:path w="13489853" h="8313122">
                <a:moveTo>
                  <a:pt x="0" y="0"/>
                </a:moveTo>
                <a:lnTo>
                  <a:pt x="13489854" y="0"/>
                </a:lnTo>
                <a:lnTo>
                  <a:pt x="13489854" y="8313122"/>
                </a:lnTo>
                <a:lnTo>
                  <a:pt x="0" y="8313122"/>
                </a:lnTo>
                <a:lnTo>
                  <a:pt x="0" y="0"/>
                </a:lnTo>
                <a:close/>
              </a:path>
            </a:pathLst>
          </a:custGeom>
          <a:blipFill>
            <a:blip r:embed="rId2"/>
            <a:stretch>
              <a:fillRect/>
            </a:stretch>
          </a:blipFill>
        </p:spPr>
        <p:txBody>
          <a:bodyPr/>
          <a:lstStyle/>
          <a:p>
            <a:endParaRPr lang="vi-VN"/>
          </a:p>
        </p:txBody>
      </p:sp>
      <p:sp>
        <p:nvSpPr>
          <p:cNvPr id="7" name="TextBox 7"/>
          <p:cNvSpPr txBox="1"/>
          <p:nvPr/>
        </p:nvSpPr>
        <p:spPr>
          <a:xfrm>
            <a:off x="6999988" y="-47625"/>
            <a:ext cx="3438633" cy="952501"/>
          </a:xfrm>
          <a:prstGeom prst="rect">
            <a:avLst/>
          </a:prstGeom>
        </p:spPr>
        <p:txBody>
          <a:bodyPr lIns="0" tIns="0" rIns="0" bIns="0" rtlCol="0" anchor="t">
            <a:spAutoFit/>
          </a:bodyPr>
          <a:lstStyle/>
          <a:p>
            <a:pPr algn="ctr">
              <a:lnSpc>
                <a:spcPts val="7799"/>
              </a:lnSpc>
              <a:spcBef>
                <a:spcPct val="0"/>
              </a:spcBef>
            </a:pPr>
            <a:r>
              <a:rPr lang="en-US" sz="5999" b="1">
                <a:solidFill>
                  <a:srgbClr val="000000"/>
                </a:solidFill>
                <a:latin typeface="Montserrat Bold"/>
                <a:ea typeface="Montserrat Bold"/>
                <a:cs typeface="Montserrat Bold"/>
                <a:sym typeface="Montserrat Bold"/>
              </a:rPr>
              <a:t>Testcase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331393"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EDF0F2">
                    <a:alpha val="0"/>
                  </a:srgbClr>
                </a:gs>
                <a:gs pos="100000">
                  <a:srgbClr val="85878A">
                    <a:alpha val="25000"/>
                  </a:srgbClr>
                </a:gs>
              </a:gsLst>
              <a:lin ang="0"/>
            </a:gradFill>
          </p:spPr>
          <p:txBody>
            <a:bodyPr/>
            <a:lstStyle/>
            <a:p>
              <a:endParaRPr lang="vi-VN"/>
            </a:p>
          </p:txBody>
        </p:sp>
        <p:sp>
          <p:nvSpPr>
            <p:cNvPr id="4" name="TextBox 4"/>
            <p:cNvSpPr txBox="1"/>
            <p:nvPr/>
          </p:nvSpPr>
          <p:spPr>
            <a:xfrm>
              <a:off x="0" y="-9525"/>
              <a:ext cx="2408296" cy="2718858"/>
            </a:xfrm>
            <a:prstGeom prst="rect">
              <a:avLst/>
            </a:prstGeom>
          </p:spPr>
          <p:txBody>
            <a:bodyPr lIns="50800" tIns="50800" rIns="50800" bIns="50800" rtlCol="0" anchor="ctr"/>
            <a:lstStyle/>
            <a:p>
              <a:pPr algn="ctr">
                <a:lnSpc>
                  <a:spcPts val="1800"/>
                </a:lnSpc>
              </a:pPr>
              <a:endParaRPr/>
            </a:p>
          </p:txBody>
        </p:sp>
      </p:grpSp>
      <p:sp>
        <p:nvSpPr>
          <p:cNvPr id="5" name="AutoShape 5"/>
          <p:cNvSpPr/>
          <p:nvPr/>
        </p:nvSpPr>
        <p:spPr>
          <a:xfrm flipV="1">
            <a:off x="1313480" y="1028700"/>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6" name="Freeform 6"/>
          <p:cNvSpPr/>
          <p:nvPr/>
        </p:nvSpPr>
        <p:spPr>
          <a:xfrm>
            <a:off x="2835897" y="1343228"/>
            <a:ext cx="12990992" cy="8460384"/>
          </a:xfrm>
          <a:custGeom>
            <a:avLst/>
            <a:gdLst/>
            <a:ahLst/>
            <a:cxnLst/>
            <a:rect l="l" t="t" r="r" b="b"/>
            <a:pathLst>
              <a:path w="12990992" h="8460384">
                <a:moveTo>
                  <a:pt x="0" y="0"/>
                </a:moveTo>
                <a:lnTo>
                  <a:pt x="12990992" y="0"/>
                </a:lnTo>
                <a:lnTo>
                  <a:pt x="12990992" y="8460384"/>
                </a:lnTo>
                <a:lnTo>
                  <a:pt x="0" y="8460384"/>
                </a:lnTo>
                <a:lnTo>
                  <a:pt x="0" y="0"/>
                </a:lnTo>
                <a:close/>
              </a:path>
            </a:pathLst>
          </a:custGeom>
          <a:blipFill>
            <a:blip r:embed="rId2"/>
            <a:stretch>
              <a:fillRect/>
            </a:stretch>
          </a:blipFill>
        </p:spPr>
        <p:txBody>
          <a:bodyPr/>
          <a:lstStyle/>
          <a:p>
            <a:endParaRPr lang="vi-VN"/>
          </a:p>
        </p:txBody>
      </p:sp>
      <p:sp>
        <p:nvSpPr>
          <p:cNvPr id="7" name="TextBox 7"/>
          <p:cNvSpPr txBox="1"/>
          <p:nvPr/>
        </p:nvSpPr>
        <p:spPr>
          <a:xfrm>
            <a:off x="7131191" y="95249"/>
            <a:ext cx="3613009" cy="952501"/>
          </a:xfrm>
          <a:prstGeom prst="rect">
            <a:avLst/>
          </a:prstGeom>
        </p:spPr>
        <p:txBody>
          <a:bodyPr wrap="square" lIns="0" tIns="0" rIns="0" bIns="0" rtlCol="0" anchor="t">
            <a:spAutoFit/>
          </a:bodyPr>
          <a:lstStyle/>
          <a:p>
            <a:pPr algn="ctr">
              <a:lnSpc>
                <a:spcPts val="7799"/>
              </a:lnSpc>
              <a:spcBef>
                <a:spcPct val="0"/>
              </a:spcBef>
            </a:pPr>
            <a:r>
              <a:rPr lang="en-US" sz="5999" b="1" dirty="0">
                <a:solidFill>
                  <a:srgbClr val="000000"/>
                </a:solidFill>
                <a:latin typeface="Montserrat Bold"/>
                <a:ea typeface="Montserrat Bold"/>
                <a:cs typeface="Montserrat Bold"/>
                <a:sym typeface="Montserrat Bold"/>
              </a:rPr>
              <a:t>Testcase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400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gradFill rotWithShape="1">
              <a:gsLst>
                <a:gs pos="0">
                  <a:srgbClr val="EDF0F2">
                    <a:alpha val="0"/>
                  </a:srgbClr>
                </a:gs>
                <a:gs pos="100000">
                  <a:srgbClr val="85878A">
                    <a:alpha val="25000"/>
                  </a:srgbClr>
                </a:gs>
              </a:gsLst>
              <a:lin ang="0"/>
            </a:gradFill>
          </p:spPr>
          <p:txBody>
            <a:bodyPr/>
            <a:lstStyle/>
            <a:p>
              <a:endParaRPr lang="vi-VN"/>
            </a:p>
          </p:txBody>
        </p:sp>
        <p:sp>
          <p:nvSpPr>
            <p:cNvPr id="4" name="TextBox 4"/>
            <p:cNvSpPr txBox="1"/>
            <p:nvPr/>
          </p:nvSpPr>
          <p:spPr>
            <a:xfrm>
              <a:off x="0" y="-9525"/>
              <a:ext cx="2408296" cy="2718858"/>
            </a:xfrm>
            <a:prstGeom prst="rect">
              <a:avLst/>
            </a:prstGeom>
          </p:spPr>
          <p:txBody>
            <a:bodyPr lIns="50800" tIns="50800" rIns="50800" bIns="50800" rtlCol="0" anchor="ctr"/>
            <a:lstStyle/>
            <a:p>
              <a:pPr algn="ctr">
                <a:lnSpc>
                  <a:spcPts val="1800"/>
                </a:lnSpc>
              </a:pPr>
              <a:endParaRPr/>
            </a:p>
          </p:txBody>
        </p:sp>
      </p:grpSp>
      <p:sp>
        <p:nvSpPr>
          <p:cNvPr id="5" name="AutoShape 5"/>
          <p:cNvSpPr/>
          <p:nvPr/>
        </p:nvSpPr>
        <p:spPr>
          <a:xfrm flipV="1">
            <a:off x="1313480" y="1028700"/>
            <a:ext cx="15661041" cy="19050"/>
          </a:xfrm>
          <a:prstGeom prst="line">
            <a:avLst/>
          </a:prstGeom>
          <a:ln w="9525" cap="flat">
            <a:solidFill>
              <a:srgbClr val="000000"/>
            </a:solidFill>
            <a:prstDash val="solid"/>
            <a:headEnd type="none" w="sm" len="sm"/>
            <a:tailEnd type="none" w="sm" len="sm"/>
          </a:ln>
        </p:spPr>
        <p:txBody>
          <a:bodyPr/>
          <a:lstStyle/>
          <a:p>
            <a:endParaRPr lang="vi-VN"/>
          </a:p>
        </p:txBody>
      </p:sp>
      <p:sp>
        <p:nvSpPr>
          <p:cNvPr id="6" name="Freeform 6"/>
          <p:cNvSpPr/>
          <p:nvPr/>
        </p:nvSpPr>
        <p:spPr>
          <a:xfrm>
            <a:off x="1313480" y="3360009"/>
            <a:ext cx="16134950" cy="4356437"/>
          </a:xfrm>
          <a:custGeom>
            <a:avLst/>
            <a:gdLst/>
            <a:ahLst/>
            <a:cxnLst/>
            <a:rect l="l" t="t" r="r" b="b"/>
            <a:pathLst>
              <a:path w="16134950" h="4356437">
                <a:moveTo>
                  <a:pt x="0" y="0"/>
                </a:moveTo>
                <a:lnTo>
                  <a:pt x="16134950" y="0"/>
                </a:lnTo>
                <a:lnTo>
                  <a:pt x="16134950" y="4356437"/>
                </a:lnTo>
                <a:lnTo>
                  <a:pt x="0" y="4356437"/>
                </a:lnTo>
                <a:lnTo>
                  <a:pt x="0" y="0"/>
                </a:lnTo>
                <a:close/>
              </a:path>
            </a:pathLst>
          </a:custGeom>
          <a:blipFill>
            <a:blip r:embed="rId2"/>
            <a:stretch>
              <a:fillRect/>
            </a:stretch>
          </a:blipFill>
        </p:spPr>
        <p:txBody>
          <a:bodyPr/>
          <a:lstStyle/>
          <a:p>
            <a:endParaRPr lang="vi-VN"/>
          </a:p>
        </p:txBody>
      </p:sp>
      <p:sp>
        <p:nvSpPr>
          <p:cNvPr id="7" name="TextBox 7"/>
          <p:cNvSpPr txBox="1"/>
          <p:nvPr/>
        </p:nvSpPr>
        <p:spPr>
          <a:xfrm>
            <a:off x="6172200" y="1251378"/>
            <a:ext cx="5088702" cy="952501"/>
          </a:xfrm>
          <a:prstGeom prst="rect">
            <a:avLst/>
          </a:prstGeom>
        </p:spPr>
        <p:txBody>
          <a:bodyPr wrap="square" lIns="0" tIns="0" rIns="0" bIns="0" rtlCol="0" anchor="t">
            <a:spAutoFit/>
          </a:bodyPr>
          <a:lstStyle/>
          <a:p>
            <a:pPr algn="ctr">
              <a:lnSpc>
                <a:spcPts val="7799"/>
              </a:lnSpc>
              <a:spcBef>
                <a:spcPct val="0"/>
              </a:spcBef>
            </a:pPr>
            <a:r>
              <a:rPr lang="en-US" sz="5999" b="1" dirty="0">
                <a:solidFill>
                  <a:srgbClr val="000000"/>
                </a:solidFill>
                <a:latin typeface="Montserrat Bold"/>
                <a:ea typeface="Montserrat Bold"/>
                <a:cs typeface="Montserrat Bold"/>
                <a:sym typeface="Montserrat Bold"/>
              </a:rPr>
              <a:t>Text Report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BEAE8"/>
        </a:solidFill>
        <a:effectLst/>
      </p:bgPr>
    </p:bg>
    <p:spTree>
      <p:nvGrpSpPr>
        <p:cNvPr id="1" name=""/>
        <p:cNvGrpSpPr/>
        <p:nvPr/>
      </p:nvGrpSpPr>
      <p:grpSpPr>
        <a:xfrm>
          <a:off x="0" y="0"/>
          <a:ext cx="0" cy="0"/>
          <a:chOff x="0" y="0"/>
          <a:chExt cx="0" cy="0"/>
        </a:xfrm>
      </p:grpSpPr>
      <p:sp>
        <p:nvSpPr>
          <p:cNvPr id="2" name="TextBox 2"/>
          <p:cNvSpPr txBox="1"/>
          <p:nvPr/>
        </p:nvSpPr>
        <p:spPr>
          <a:xfrm>
            <a:off x="5086350" y="2427492"/>
            <a:ext cx="8115300" cy="3051176"/>
          </a:xfrm>
          <a:prstGeom prst="rect">
            <a:avLst/>
          </a:prstGeom>
        </p:spPr>
        <p:txBody>
          <a:bodyPr lIns="0" tIns="0" rIns="0" bIns="0" rtlCol="0" anchor="t">
            <a:spAutoFit/>
          </a:bodyPr>
          <a:lstStyle/>
          <a:p>
            <a:pPr algn="ctr">
              <a:lnSpc>
                <a:spcPts val="20000"/>
              </a:lnSpc>
            </a:pPr>
            <a:r>
              <a:rPr lang="en-US" sz="20000" i="1" spc="-1200">
                <a:solidFill>
                  <a:srgbClr val="000000"/>
                </a:solidFill>
                <a:latin typeface="Times New Roman MT Condensed Italics"/>
                <a:ea typeface="Times New Roman MT Condensed Italics"/>
                <a:cs typeface="Times New Roman MT Condensed Italics"/>
                <a:sym typeface="Times New Roman MT Condensed Italics"/>
              </a:rPr>
              <a:t>The</a:t>
            </a:r>
          </a:p>
        </p:txBody>
      </p:sp>
      <p:sp>
        <p:nvSpPr>
          <p:cNvPr id="3" name="TextBox 3"/>
          <p:cNvSpPr txBox="1"/>
          <p:nvPr/>
        </p:nvSpPr>
        <p:spPr>
          <a:xfrm>
            <a:off x="5086350" y="5391150"/>
            <a:ext cx="8115300" cy="1879601"/>
          </a:xfrm>
          <a:prstGeom prst="rect">
            <a:avLst/>
          </a:prstGeom>
        </p:spPr>
        <p:txBody>
          <a:bodyPr lIns="0" tIns="0" rIns="0" bIns="0" rtlCol="0" anchor="t">
            <a:spAutoFit/>
          </a:bodyPr>
          <a:lstStyle/>
          <a:p>
            <a:pPr algn="ctr">
              <a:lnSpc>
                <a:spcPts val="14000"/>
              </a:lnSpc>
            </a:pPr>
            <a:r>
              <a:rPr lang="en-US" sz="14000" spc="-840">
                <a:solidFill>
                  <a:srgbClr val="000000"/>
                </a:solidFill>
                <a:latin typeface="Helvetica World"/>
                <a:ea typeface="Helvetica World"/>
                <a:cs typeface="Helvetica World"/>
                <a:sym typeface="Helvetica World"/>
              </a:rPr>
              <a:t>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403</Words>
  <Application>Microsoft Office PowerPoint</Application>
  <PresentationFormat>Tùy chỉnh</PresentationFormat>
  <Paragraphs>35</Paragraphs>
  <Slides>10</Slides>
  <Notes>0</Notes>
  <HiddenSlides>0</HiddenSlides>
  <MMClips>0</MMClips>
  <ScaleCrop>false</ScaleCrop>
  <HeadingPairs>
    <vt:vector size="6" baseType="variant">
      <vt:variant>
        <vt:lpstr>Phông được Dùng</vt:lpstr>
      </vt:variant>
      <vt:variant>
        <vt:i4>6</vt:i4>
      </vt:variant>
      <vt:variant>
        <vt:lpstr>Chủ đề</vt:lpstr>
      </vt:variant>
      <vt:variant>
        <vt:i4>1</vt:i4>
      </vt:variant>
      <vt:variant>
        <vt:lpstr>Tiêu đề Bản chiếu</vt:lpstr>
      </vt:variant>
      <vt:variant>
        <vt:i4>10</vt:i4>
      </vt:variant>
    </vt:vector>
  </HeadingPairs>
  <TitlesOfParts>
    <vt:vector size="17" baseType="lpstr">
      <vt:lpstr>Helvetica World</vt:lpstr>
      <vt:lpstr>Arial</vt:lpstr>
      <vt:lpstr>Calibri</vt:lpstr>
      <vt:lpstr>Montserrat</vt:lpstr>
      <vt:lpstr>Montserrat Bold</vt:lpstr>
      <vt:lpstr>Times New Roman MT Condensed Italics</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Simple Lined Minimalist Basic Seminar Presentation</dc:title>
  <cp:lastModifiedBy>Thịnh Nguyễn Trường</cp:lastModifiedBy>
  <cp:revision>2</cp:revision>
  <dcterms:created xsi:type="dcterms:W3CDTF">2006-08-16T00:00:00Z</dcterms:created>
  <dcterms:modified xsi:type="dcterms:W3CDTF">2026-03-20T07:47:10Z</dcterms:modified>
  <dc:identifier>DAG5_4Kp4F0</dc:identifier>
</cp:coreProperties>
</file>