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Helvetica World" panose="020B0604020202020204" charset="-128"/>
      <p:regular r:id="rId13"/>
    </p:embeddedFont>
    <p:embeddedFont>
      <p:font typeface="Montserrat" panose="00000500000000000000" pitchFamily="2" charset="-93"/>
      <p:regular r:id="rId14"/>
    </p:embeddedFont>
    <p:embeddedFont>
      <p:font typeface="Montserrat Bold" panose="00000800000000000000" charset="-93"/>
      <p:regular r:id="rId15"/>
    </p:embeddedFont>
    <p:embeddedFont>
      <p:font typeface="Times New Roman MT Condensed Italics"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24-Mar-26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24-Mar-26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24-Mar-26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24-Mar-26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24-Mar-26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24-Mar-26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24-Mar-26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24-Mar-26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24-Mar-26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24-Mar-26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F0F2"/>
        </a:solidFill>
        <a:effectLst/>
      </p:bgPr>
    </p:bg>
    <p:spTree>
      <p:nvGrpSpPr>
        <p:cNvPr id="1" name=""/>
        <p:cNvGrpSpPr/>
        <p:nvPr/>
      </p:nvGrpSpPr>
      <p:grpSpPr>
        <a:xfrm>
          <a:off x="0" y="0"/>
          <a:ext cx="0" cy="0"/>
          <a:chOff x="0" y="0"/>
          <a:chExt cx="0" cy="0"/>
        </a:xfrm>
      </p:grpSpPr>
      <p:sp>
        <p:nvSpPr>
          <p:cNvPr id="2" name="AutoShape 2"/>
          <p:cNvSpPr/>
          <p:nvPr/>
        </p:nvSpPr>
        <p:spPr>
          <a:xfrm flipV="1">
            <a:off x="1598254" y="1976798"/>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3" name="Freeform 3"/>
          <p:cNvSpPr/>
          <p:nvPr/>
        </p:nvSpPr>
        <p:spPr>
          <a:xfrm>
            <a:off x="143928" y="0"/>
            <a:ext cx="7324871" cy="1753434"/>
          </a:xfrm>
          <a:custGeom>
            <a:avLst/>
            <a:gdLst/>
            <a:ahLst/>
            <a:cxnLst/>
            <a:rect l="l" t="t" r="r" b="b"/>
            <a:pathLst>
              <a:path w="7324871" h="1753434">
                <a:moveTo>
                  <a:pt x="0" y="0"/>
                </a:moveTo>
                <a:lnTo>
                  <a:pt x="7324871" y="0"/>
                </a:lnTo>
                <a:lnTo>
                  <a:pt x="7324871" y="1753434"/>
                </a:lnTo>
                <a:lnTo>
                  <a:pt x="0" y="1753434"/>
                </a:lnTo>
                <a:lnTo>
                  <a:pt x="0" y="0"/>
                </a:lnTo>
                <a:close/>
              </a:path>
            </a:pathLst>
          </a:custGeom>
          <a:blipFill>
            <a:blip r:embed="rId2"/>
            <a:stretch>
              <a:fillRect b="-13313"/>
            </a:stretch>
          </a:blipFill>
        </p:spPr>
        <p:txBody>
          <a:bodyPr/>
          <a:lstStyle/>
          <a:p>
            <a:endParaRPr lang="vi-VN"/>
          </a:p>
        </p:txBody>
      </p:sp>
      <p:sp>
        <p:nvSpPr>
          <p:cNvPr id="4" name="TextBox 4"/>
          <p:cNvSpPr txBox="1"/>
          <p:nvPr/>
        </p:nvSpPr>
        <p:spPr>
          <a:xfrm>
            <a:off x="2505327" y="2466975"/>
            <a:ext cx="14060331" cy="3067050"/>
          </a:xfrm>
          <a:prstGeom prst="rect">
            <a:avLst/>
          </a:prstGeom>
        </p:spPr>
        <p:txBody>
          <a:bodyPr lIns="0" tIns="0" rIns="0" bIns="0" rtlCol="0" anchor="t">
            <a:spAutoFit/>
          </a:bodyPr>
          <a:lstStyle/>
          <a:p>
            <a:pPr algn="ctr">
              <a:lnSpc>
                <a:spcPts val="8040"/>
              </a:lnSpc>
            </a:pPr>
            <a:r>
              <a:rPr lang="en-US" sz="6700">
                <a:solidFill>
                  <a:srgbClr val="000000"/>
                </a:solidFill>
                <a:latin typeface="Montserrat"/>
                <a:ea typeface="Montserrat"/>
                <a:cs typeface="Montserrat"/>
                <a:sym typeface="Montserrat"/>
              </a:rPr>
              <a:t>KIỂM THỬ XSS DEFENSES: ENCODING, CSP Ở MỨC CẤU HÌNH VÀ HÀNH VI</a:t>
            </a:r>
          </a:p>
        </p:txBody>
      </p:sp>
      <p:sp>
        <p:nvSpPr>
          <p:cNvPr id="5" name="TextBox 5"/>
          <p:cNvSpPr txBox="1"/>
          <p:nvPr/>
        </p:nvSpPr>
        <p:spPr>
          <a:xfrm>
            <a:off x="3542585" y="5805613"/>
            <a:ext cx="12002215" cy="2758979"/>
          </a:xfrm>
          <a:prstGeom prst="rect">
            <a:avLst/>
          </a:prstGeom>
        </p:spPr>
        <p:txBody>
          <a:bodyPr wrap="square" lIns="0" tIns="0" rIns="0" bIns="0" rtlCol="0" anchor="t">
            <a:spAutoFit/>
          </a:bodyPr>
          <a:lstStyle/>
          <a:p>
            <a:pPr algn="ctr">
              <a:lnSpc>
                <a:spcPts val="5522"/>
              </a:lnSpc>
              <a:spcBef>
                <a:spcPct val="0"/>
              </a:spcBef>
            </a:pPr>
            <a:r>
              <a:rPr lang="en-US" sz="4248" dirty="0" err="1">
                <a:solidFill>
                  <a:srgbClr val="000000"/>
                </a:solidFill>
                <a:latin typeface="Montserrat"/>
                <a:ea typeface="Montserrat"/>
                <a:cs typeface="Montserrat"/>
                <a:sym typeface="Montserrat"/>
              </a:rPr>
              <a:t>Giảng</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viên</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hướng</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dẫn</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Phạm</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Trọng</a:t>
            </a:r>
            <a:r>
              <a:rPr lang="en-US" sz="4248" dirty="0">
                <a:solidFill>
                  <a:srgbClr val="000000"/>
                </a:solidFill>
                <a:latin typeface="Montserrat"/>
                <a:ea typeface="Montserrat"/>
                <a:cs typeface="Montserrat"/>
                <a:sym typeface="Montserrat"/>
              </a:rPr>
              <a:t> Huynh</a:t>
            </a:r>
          </a:p>
          <a:p>
            <a:pPr algn="ctr">
              <a:lnSpc>
                <a:spcPts val="5522"/>
              </a:lnSpc>
              <a:spcBef>
                <a:spcPct val="0"/>
              </a:spcBef>
            </a:pPr>
            <a:r>
              <a:rPr lang="en-US" sz="4248" dirty="0">
                <a:solidFill>
                  <a:srgbClr val="000000"/>
                </a:solidFill>
                <a:latin typeface="Montserrat"/>
                <a:ea typeface="Montserrat"/>
                <a:cs typeface="Montserrat"/>
                <a:sym typeface="Montserrat"/>
              </a:rPr>
              <a:t>Thành </a:t>
            </a:r>
            <a:r>
              <a:rPr lang="en-US" sz="4248" dirty="0" err="1">
                <a:solidFill>
                  <a:srgbClr val="000000"/>
                </a:solidFill>
                <a:latin typeface="Montserrat"/>
                <a:ea typeface="Montserrat"/>
                <a:cs typeface="Montserrat"/>
                <a:sym typeface="Montserrat"/>
              </a:rPr>
              <a:t>viên</a:t>
            </a:r>
            <a:r>
              <a:rPr lang="en-US" sz="4248" dirty="0">
                <a:solidFill>
                  <a:srgbClr val="000000"/>
                </a:solidFill>
                <a:latin typeface="Montserrat"/>
                <a:ea typeface="Montserrat"/>
                <a:cs typeface="Montserrat"/>
                <a:sym typeface="Montserrat"/>
              </a:rPr>
              <a:t>:</a:t>
            </a:r>
          </a:p>
          <a:p>
            <a:pPr algn="ctr">
              <a:lnSpc>
                <a:spcPts val="5522"/>
              </a:lnSpc>
              <a:spcBef>
                <a:spcPct val="0"/>
              </a:spcBef>
            </a:pPr>
            <a:r>
              <a:rPr lang="en-US" sz="4248" dirty="0">
                <a:solidFill>
                  <a:srgbClr val="000000"/>
                </a:solidFill>
                <a:latin typeface="Montserrat"/>
                <a:ea typeface="Montserrat"/>
                <a:cs typeface="Montserrat"/>
                <a:sym typeface="Montserrat"/>
              </a:rPr>
              <a:t>Nguyễn </a:t>
            </a:r>
            <a:r>
              <a:rPr lang="en-US" sz="4248" dirty="0" err="1">
                <a:solidFill>
                  <a:srgbClr val="000000"/>
                </a:solidFill>
                <a:latin typeface="Montserrat"/>
                <a:ea typeface="Montserrat"/>
                <a:cs typeface="Montserrat"/>
                <a:sym typeface="Montserrat"/>
              </a:rPr>
              <a:t>Trường</a:t>
            </a:r>
            <a:r>
              <a:rPr lang="en-US" sz="4248" dirty="0">
                <a:solidFill>
                  <a:srgbClr val="000000"/>
                </a:solidFill>
                <a:latin typeface="Montserrat"/>
                <a:ea typeface="Montserrat"/>
                <a:cs typeface="Montserrat"/>
                <a:sym typeface="Montserrat"/>
              </a:rPr>
              <a:t> Thịnh-1150080157</a:t>
            </a:r>
          </a:p>
          <a:p>
            <a:pPr algn="ctr">
              <a:lnSpc>
                <a:spcPts val="5522"/>
              </a:lnSpc>
              <a:spcBef>
                <a:spcPct val="0"/>
              </a:spcBef>
            </a:pPr>
            <a:endParaRPr lang="en-US" sz="4248" dirty="0">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TextBox 6"/>
          <p:cNvSpPr txBox="1"/>
          <p:nvPr/>
        </p:nvSpPr>
        <p:spPr>
          <a:xfrm>
            <a:off x="5592340" y="1246114"/>
            <a:ext cx="6980660" cy="952501"/>
          </a:xfrm>
          <a:prstGeom prst="rect">
            <a:avLst/>
          </a:prstGeom>
        </p:spPr>
        <p:txBody>
          <a:bodyPr wrap="square" lIns="0" tIns="0" rIns="0" bIns="0" rtlCol="0" anchor="t">
            <a:spAutoFit/>
          </a:bodyPr>
          <a:lstStyle/>
          <a:p>
            <a:pPr algn="ctr">
              <a:lnSpc>
                <a:spcPts val="7799"/>
              </a:lnSpc>
              <a:spcBef>
                <a:spcPct val="0"/>
              </a:spcBef>
            </a:pPr>
            <a:r>
              <a:rPr lang="en-US" sz="5999" b="1" dirty="0" err="1">
                <a:solidFill>
                  <a:srgbClr val="000000"/>
                </a:solidFill>
                <a:latin typeface="Montserrat Bold"/>
                <a:ea typeface="Montserrat Bold"/>
                <a:cs typeface="Montserrat Bold"/>
                <a:sym typeface="Montserrat Bold"/>
              </a:rPr>
              <a:t>Tổng</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quan</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dự</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án</a:t>
            </a:r>
            <a:endParaRPr lang="en-US" sz="5999" b="1" dirty="0">
              <a:solidFill>
                <a:srgbClr val="000000"/>
              </a:solidFill>
              <a:latin typeface="Montserrat Bold"/>
              <a:ea typeface="Montserrat Bold"/>
              <a:cs typeface="Montserrat Bold"/>
              <a:sym typeface="Montserrat Bold"/>
            </a:endParaRPr>
          </a:p>
        </p:txBody>
      </p:sp>
      <p:sp>
        <p:nvSpPr>
          <p:cNvPr id="7" name="TextBox 7"/>
          <p:cNvSpPr txBox="1"/>
          <p:nvPr/>
        </p:nvSpPr>
        <p:spPr>
          <a:xfrm>
            <a:off x="881840" y="2408165"/>
            <a:ext cx="7576360" cy="635001"/>
          </a:xfrm>
          <a:prstGeom prst="rect">
            <a:avLst/>
          </a:prstGeom>
        </p:spPr>
        <p:txBody>
          <a:bodyPr wrap="square" lIns="0" tIns="0" rIns="0" bIns="0" rtlCol="0" anchor="t">
            <a:spAutoFit/>
          </a:bodyPr>
          <a:lstStyle/>
          <a:p>
            <a:pPr algn="ctr">
              <a:lnSpc>
                <a:spcPts val="5199"/>
              </a:lnSpc>
              <a:spcBef>
                <a:spcPct val="0"/>
              </a:spcBef>
            </a:pPr>
            <a:r>
              <a:rPr lang="en-US" sz="3999" dirty="0" err="1">
                <a:solidFill>
                  <a:srgbClr val="000000"/>
                </a:solidFill>
                <a:latin typeface="Montserrat"/>
                <a:ea typeface="Montserrat"/>
                <a:cs typeface="Montserrat"/>
                <a:sym typeface="Montserrat"/>
              </a:rPr>
              <a:t>Giới</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thiệu</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nội</a:t>
            </a:r>
            <a:r>
              <a:rPr lang="en-US" sz="3999" dirty="0">
                <a:solidFill>
                  <a:srgbClr val="000000"/>
                </a:solidFill>
                <a:latin typeface="Montserrat"/>
                <a:ea typeface="Montserrat"/>
                <a:cs typeface="Montserrat"/>
                <a:sym typeface="Montserrat"/>
              </a:rPr>
              <a:t> dung </a:t>
            </a:r>
            <a:r>
              <a:rPr lang="en-US" sz="3999" dirty="0" err="1">
                <a:solidFill>
                  <a:srgbClr val="000000"/>
                </a:solidFill>
                <a:latin typeface="Montserrat"/>
                <a:ea typeface="Montserrat"/>
                <a:cs typeface="Montserrat"/>
                <a:sym typeface="Montserrat"/>
              </a:rPr>
              <a:t>kiểm</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thử</a:t>
            </a:r>
            <a:endParaRPr lang="en-US" sz="3999" dirty="0">
              <a:solidFill>
                <a:srgbClr val="000000"/>
              </a:solidFill>
              <a:latin typeface="Montserrat"/>
              <a:ea typeface="Montserrat"/>
              <a:cs typeface="Montserrat"/>
              <a:sym typeface="Montserrat"/>
            </a:endParaRPr>
          </a:p>
        </p:txBody>
      </p:sp>
      <p:sp>
        <p:nvSpPr>
          <p:cNvPr id="8" name="TextBox 8"/>
          <p:cNvSpPr txBox="1"/>
          <p:nvPr/>
        </p:nvSpPr>
        <p:spPr>
          <a:xfrm>
            <a:off x="881840" y="3613922"/>
            <a:ext cx="16524319" cy="3937635"/>
          </a:xfrm>
          <a:prstGeom prst="rect">
            <a:avLst/>
          </a:prstGeom>
        </p:spPr>
        <p:txBody>
          <a:bodyPr lIns="0" tIns="0" rIns="0" bIns="0" rtlCol="0" anchor="t">
            <a:spAutoFit/>
          </a:bodyPr>
          <a:lstStyle/>
          <a:p>
            <a:pPr algn="just">
              <a:lnSpc>
                <a:spcPts val="3509"/>
              </a:lnSpc>
            </a:pPr>
            <a:r>
              <a:rPr lang="en-US" sz="2699">
                <a:solidFill>
                  <a:srgbClr val="000000"/>
                </a:solidFill>
                <a:latin typeface="Montserrat"/>
                <a:ea typeface="Montserrat"/>
                <a:cs typeface="Montserrat"/>
                <a:sym typeface="Montserrat"/>
              </a:rPr>
              <a:t>Ứng dụng được lựa chọn để kiểm thử là OWASP Juice Shop, một ứng dụng web mã nguồn mở được phát triển nhằm phục vụ mục đích học tập và nghiên cứu về bảo mật ứng dụng web. Ứng dụng này mô phỏng một website bán hàng trực tuyến với đầy đủ các chức năng như tìm kiếm sản phẩm, đăng ký tài khoản, đăng nhập, đánh giá sản phẩm và thanh toán.</a:t>
            </a:r>
          </a:p>
          <a:p>
            <a:pPr algn="just">
              <a:lnSpc>
                <a:spcPts val="3509"/>
              </a:lnSpc>
            </a:pPr>
            <a:endParaRPr lang="en-US" sz="2699">
              <a:solidFill>
                <a:srgbClr val="000000"/>
              </a:solidFill>
              <a:latin typeface="Montserrat"/>
              <a:ea typeface="Montserrat"/>
              <a:cs typeface="Montserrat"/>
              <a:sym typeface="Montserrat"/>
            </a:endParaRPr>
          </a:p>
          <a:p>
            <a:pPr algn="just">
              <a:lnSpc>
                <a:spcPts val="3509"/>
              </a:lnSpc>
              <a:spcBef>
                <a:spcPct val="0"/>
              </a:spcBef>
            </a:pPr>
            <a:r>
              <a:rPr lang="en-US" sz="2699">
                <a:solidFill>
                  <a:srgbClr val="000000"/>
                </a:solidFill>
                <a:latin typeface="Montserrat"/>
                <a:ea typeface="Montserrat"/>
                <a:cs typeface="Montserrat"/>
                <a:sym typeface="Montserrat"/>
              </a:rPr>
              <a:t>OWASP Juice Shop được thiết kế cố ý chứa nhiều lỗ hổng bảo mật phổ biến, trong đó có lỗ hổng Cross-Site Scripting (XSS). Vì vậy, đây là môi trường phù hợp để thực hiện kiểm thử các cơ chế phòng chống XSS như encoding và Content Security Policy (CSP).</a:t>
            </a:r>
          </a:p>
          <a:p>
            <a:pPr algn="just">
              <a:lnSpc>
                <a:spcPts val="3509"/>
              </a:lnSpc>
              <a:spcBef>
                <a:spcPct val="0"/>
              </a:spcBef>
            </a:pPr>
            <a:endParaRPr lang="en-US" sz="2699">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126920" y="2436740"/>
            <a:ext cx="14410482" cy="3656660"/>
          </a:xfrm>
          <a:custGeom>
            <a:avLst/>
            <a:gdLst/>
            <a:ahLst/>
            <a:cxnLst/>
            <a:rect l="l" t="t" r="r" b="b"/>
            <a:pathLst>
              <a:path w="14410482" h="3656660">
                <a:moveTo>
                  <a:pt x="0" y="0"/>
                </a:moveTo>
                <a:lnTo>
                  <a:pt x="14410481" y="0"/>
                </a:lnTo>
                <a:lnTo>
                  <a:pt x="14410481" y="3656660"/>
                </a:lnTo>
                <a:lnTo>
                  <a:pt x="0" y="3656660"/>
                </a:lnTo>
                <a:lnTo>
                  <a:pt x="0" y="0"/>
                </a:lnTo>
                <a:close/>
              </a:path>
            </a:pathLst>
          </a:custGeom>
          <a:blipFill>
            <a:blip r:embed="rId2"/>
            <a:stretch>
              <a:fillRect/>
            </a:stretch>
          </a:blipFill>
        </p:spPr>
        <p:txBody>
          <a:bodyPr/>
          <a:lstStyle/>
          <a:p>
            <a:endParaRPr lang="vi-VN"/>
          </a:p>
        </p:txBody>
      </p:sp>
      <p:sp>
        <p:nvSpPr>
          <p:cNvPr id="7" name="Freeform 7"/>
          <p:cNvSpPr/>
          <p:nvPr/>
        </p:nvSpPr>
        <p:spPr>
          <a:xfrm>
            <a:off x="2020947" y="6518445"/>
            <a:ext cx="14516455" cy="2915755"/>
          </a:xfrm>
          <a:custGeom>
            <a:avLst/>
            <a:gdLst/>
            <a:ahLst/>
            <a:cxnLst/>
            <a:rect l="l" t="t" r="r" b="b"/>
            <a:pathLst>
              <a:path w="14516455" h="2915755">
                <a:moveTo>
                  <a:pt x="0" y="0"/>
                </a:moveTo>
                <a:lnTo>
                  <a:pt x="14516454" y="0"/>
                </a:lnTo>
                <a:lnTo>
                  <a:pt x="14516454" y="2915754"/>
                </a:lnTo>
                <a:lnTo>
                  <a:pt x="0" y="2915754"/>
                </a:lnTo>
                <a:lnTo>
                  <a:pt x="0" y="0"/>
                </a:lnTo>
                <a:close/>
              </a:path>
            </a:pathLst>
          </a:custGeom>
          <a:blipFill>
            <a:blip r:embed="rId3"/>
            <a:stretch>
              <a:fillRect l="-2857" r="-2857"/>
            </a:stretch>
          </a:blipFill>
        </p:spPr>
        <p:txBody>
          <a:bodyPr/>
          <a:lstStyle/>
          <a:p>
            <a:endParaRPr lang="vi-VN"/>
          </a:p>
        </p:txBody>
      </p:sp>
      <p:sp>
        <p:nvSpPr>
          <p:cNvPr id="8" name="TextBox 8"/>
          <p:cNvSpPr txBox="1"/>
          <p:nvPr/>
        </p:nvSpPr>
        <p:spPr>
          <a:xfrm>
            <a:off x="3265047" y="1246114"/>
            <a:ext cx="11898753"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PHÂN VÙNG TƯƠNG ĐƯƠNG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1995081" y="2436740"/>
            <a:ext cx="15264219" cy="6334651"/>
          </a:xfrm>
          <a:custGeom>
            <a:avLst/>
            <a:gdLst/>
            <a:ahLst/>
            <a:cxnLst/>
            <a:rect l="l" t="t" r="r" b="b"/>
            <a:pathLst>
              <a:path w="15264219" h="6334651">
                <a:moveTo>
                  <a:pt x="0" y="0"/>
                </a:moveTo>
                <a:lnTo>
                  <a:pt x="15264219" y="0"/>
                </a:lnTo>
                <a:lnTo>
                  <a:pt x="15264219" y="6334651"/>
                </a:lnTo>
                <a:lnTo>
                  <a:pt x="0" y="6334651"/>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6417498" y="1246114"/>
            <a:ext cx="5092844" cy="952501"/>
          </a:xfrm>
          <a:prstGeom prst="rect">
            <a:avLst/>
          </a:prstGeom>
        </p:spPr>
        <p:txBody>
          <a:bodyPr lIns="0" tIns="0" rIns="0" bIns="0" rtlCol="0" anchor="t">
            <a:spAutoFit/>
          </a:bodyPr>
          <a:lstStyle/>
          <a:p>
            <a:pPr algn="ctr">
              <a:lnSpc>
                <a:spcPts val="7799"/>
              </a:lnSpc>
              <a:spcBef>
                <a:spcPct val="0"/>
              </a:spcBef>
            </a:pPr>
            <a:r>
              <a:rPr lang="en-US" sz="5999" b="1">
                <a:solidFill>
                  <a:srgbClr val="000000"/>
                </a:solidFill>
                <a:latin typeface="Montserrat Bold"/>
                <a:ea typeface="Montserrat Bold"/>
                <a:cs typeface="Montserrat Bold"/>
                <a:sym typeface="Montserrat Bold"/>
              </a:rPr>
              <a:t>GIÁ TRỊ BIÊN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604045" y="1216603"/>
            <a:ext cx="13079910" cy="8207644"/>
          </a:xfrm>
          <a:custGeom>
            <a:avLst/>
            <a:gdLst/>
            <a:ahLst/>
            <a:cxnLst/>
            <a:rect l="l" t="t" r="r" b="b"/>
            <a:pathLst>
              <a:path w="13079910" h="8207644">
                <a:moveTo>
                  <a:pt x="0" y="0"/>
                </a:moveTo>
                <a:lnTo>
                  <a:pt x="13079910" y="0"/>
                </a:lnTo>
                <a:lnTo>
                  <a:pt x="13079910" y="8207643"/>
                </a:lnTo>
                <a:lnTo>
                  <a:pt x="0" y="8207643"/>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7058430" y="95249"/>
            <a:ext cx="3438633" cy="952501"/>
          </a:xfrm>
          <a:prstGeom prst="rect">
            <a:avLst/>
          </a:prstGeom>
        </p:spPr>
        <p:txBody>
          <a:bodyPr lIns="0" tIns="0" rIns="0" bIns="0" rtlCol="0" anchor="t">
            <a:spAutoFit/>
          </a:bodyPr>
          <a:lstStyle/>
          <a:p>
            <a:pPr algn="ctr">
              <a:lnSpc>
                <a:spcPts val="7799"/>
              </a:lnSpc>
              <a:spcBef>
                <a:spcPct val="0"/>
              </a:spcBef>
            </a:pPr>
            <a:r>
              <a:rPr lang="en-US" sz="5999" b="1">
                <a:solidFill>
                  <a:srgbClr val="000000"/>
                </a:solidFill>
                <a:latin typeface="Montserrat Bold"/>
                <a:ea typeface="Montserrat Bold"/>
                <a:cs typeface="Montserrat Bold"/>
                <a:sym typeface="Montserrat Bold"/>
              </a:rPr>
              <a:t>Testcase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580852" y="1447284"/>
            <a:ext cx="12921497" cy="8382821"/>
          </a:xfrm>
          <a:custGeom>
            <a:avLst/>
            <a:gdLst/>
            <a:ahLst/>
            <a:cxnLst/>
            <a:rect l="l" t="t" r="r" b="b"/>
            <a:pathLst>
              <a:path w="12921497" h="8382821">
                <a:moveTo>
                  <a:pt x="0" y="0"/>
                </a:moveTo>
                <a:lnTo>
                  <a:pt x="12921497" y="0"/>
                </a:lnTo>
                <a:lnTo>
                  <a:pt x="12921497" y="8382822"/>
                </a:lnTo>
                <a:lnTo>
                  <a:pt x="0" y="8382822"/>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7004573" y="95249"/>
            <a:ext cx="3663427"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Testcase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399073" y="1298693"/>
            <a:ext cx="13489853" cy="8313122"/>
          </a:xfrm>
          <a:custGeom>
            <a:avLst/>
            <a:gdLst/>
            <a:ahLst/>
            <a:cxnLst/>
            <a:rect l="l" t="t" r="r" b="b"/>
            <a:pathLst>
              <a:path w="13489853" h="8313122">
                <a:moveTo>
                  <a:pt x="0" y="0"/>
                </a:moveTo>
                <a:lnTo>
                  <a:pt x="13489854" y="0"/>
                </a:lnTo>
                <a:lnTo>
                  <a:pt x="13489854" y="8313122"/>
                </a:lnTo>
                <a:lnTo>
                  <a:pt x="0" y="8313122"/>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6999988" y="-47625"/>
            <a:ext cx="3744212"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Testcase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835897" y="1343228"/>
            <a:ext cx="12990992" cy="8460384"/>
          </a:xfrm>
          <a:custGeom>
            <a:avLst/>
            <a:gdLst/>
            <a:ahLst/>
            <a:cxnLst/>
            <a:rect l="l" t="t" r="r" b="b"/>
            <a:pathLst>
              <a:path w="12990992" h="8460384">
                <a:moveTo>
                  <a:pt x="0" y="0"/>
                </a:moveTo>
                <a:lnTo>
                  <a:pt x="12990992" y="0"/>
                </a:lnTo>
                <a:lnTo>
                  <a:pt x="12990992" y="8460384"/>
                </a:lnTo>
                <a:lnTo>
                  <a:pt x="0" y="8460384"/>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7131191" y="95249"/>
            <a:ext cx="3689209"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Testcase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1313480" y="3360009"/>
            <a:ext cx="16134950" cy="4356437"/>
          </a:xfrm>
          <a:custGeom>
            <a:avLst/>
            <a:gdLst/>
            <a:ahLst/>
            <a:cxnLst/>
            <a:rect l="l" t="t" r="r" b="b"/>
            <a:pathLst>
              <a:path w="16134950" h="4356437">
                <a:moveTo>
                  <a:pt x="0" y="0"/>
                </a:moveTo>
                <a:lnTo>
                  <a:pt x="16134950" y="0"/>
                </a:lnTo>
                <a:lnTo>
                  <a:pt x="16134950" y="4356437"/>
                </a:lnTo>
                <a:lnTo>
                  <a:pt x="0" y="4356437"/>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6646098" y="1246114"/>
            <a:ext cx="5241102"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Text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342900" y="2628900"/>
            <a:ext cx="17602200" cy="4377220"/>
          </a:xfrm>
          <a:custGeom>
            <a:avLst/>
            <a:gdLst/>
            <a:ahLst/>
            <a:cxnLst/>
            <a:rect l="l" t="t" r="r" b="b"/>
            <a:pathLst>
              <a:path w="18430402" h="4377220">
                <a:moveTo>
                  <a:pt x="0" y="0"/>
                </a:moveTo>
                <a:lnTo>
                  <a:pt x="18430402" y="0"/>
                </a:lnTo>
                <a:lnTo>
                  <a:pt x="18430402" y="4377221"/>
                </a:lnTo>
                <a:lnTo>
                  <a:pt x="0" y="4377221"/>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8078528" y="1246114"/>
            <a:ext cx="1770784" cy="952501"/>
          </a:xfrm>
          <a:prstGeom prst="rect">
            <a:avLst/>
          </a:prstGeom>
        </p:spPr>
        <p:txBody>
          <a:bodyPr lIns="0" tIns="0" rIns="0" bIns="0" rtlCol="0" anchor="t">
            <a:spAutoFit/>
          </a:bodyPr>
          <a:lstStyle/>
          <a:p>
            <a:pPr algn="ctr">
              <a:lnSpc>
                <a:spcPts val="7799"/>
              </a:lnSpc>
              <a:spcBef>
                <a:spcPct val="0"/>
              </a:spcBef>
            </a:pPr>
            <a:r>
              <a:rPr lang="en-US" sz="5999" b="1">
                <a:solidFill>
                  <a:srgbClr val="000000"/>
                </a:solidFill>
                <a:latin typeface="Montserrat Bold"/>
                <a:ea typeface="Montserrat Bold"/>
                <a:cs typeface="Montserrat Bold"/>
                <a:sym typeface="Montserrat Bold"/>
              </a:rPr>
              <a:t>BUG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AE8"/>
        </a:solidFill>
        <a:effectLst/>
      </p:bgPr>
    </p:bg>
    <p:spTree>
      <p:nvGrpSpPr>
        <p:cNvPr id="1" name=""/>
        <p:cNvGrpSpPr/>
        <p:nvPr/>
      </p:nvGrpSpPr>
      <p:grpSpPr>
        <a:xfrm>
          <a:off x="0" y="0"/>
          <a:ext cx="0" cy="0"/>
          <a:chOff x="0" y="0"/>
          <a:chExt cx="0" cy="0"/>
        </a:xfrm>
      </p:grpSpPr>
      <p:sp>
        <p:nvSpPr>
          <p:cNvPr id="2" name="TextBox 2"/>
          <p:cNvSpPr txBox="1"/>
          <p:nvPr/>
        </p:nvSpPr>
        <p:spPr>
          <a:xfrm>
            <a:off x="5086350" y="2427492"/>
            <a:ext cx="8115300" cy="3051176"/>
          </a:xfrm>
          <a:prstGeom prst="rect">
            <a:avLst/>
          </a:prstGeom>
        </p:spPr>
        <p:txBody>
          <a:bodyPr lIns="0" tIns="0" rIns="0" bIns="0" rtlCol="0" anchor="t">
            <a:spAutoFit/>
          </a:bodyPr>
          <a:lstStyle/>
          <a:p>
            <a:pPr algn="ctr">
              <a:lnSpc>
                <a:spcPts val="20000"/>
              </a:lnSpc>
            </a:pPr>
            <a:r>
              <a:rPr lang="en-US" sz="20000" i="1" spc="-1200">
                <a:solidFill>
                  <a:srgbClr val="000000"/>
                </a:solidFill>
                <a:latin typeface="Times New Roman MT Condensed Italics"/>
                <a:ea typeface="Times New Roman MT Condensed Italics"/>
                <a:cs typeface="Times New Roman MT Condensed Italics"/>
                <a:sym typeface="Times New Roman MT Condensed Italics"/>
              </a:rPr>
              <a:t>The</a:t>
            </a:r>
          </a:p>
        </p:txBody>
      </p:sp>
      <p:sp>
        <p:nvSpPr>
          <p:cNvPr id="3" name="TextBox 3"/>
          <p:cNvSpPr txBox="1"/>
          <p:nvPr/>
        </p:nvSpPr>
        <p:spPr>
          <a:xfrm>
            <a:off x="5086350" y="5391150"/>
            <a:ext cx="8115300" cy="1879601"/>
          </a:xfrm>
          <a:prstGeom prst="rect">
            <a:avLst/>
          </a:prstGeom>
        </p:spPr>
        <p:txBody>
          <a:bodyPr lIns="0" tIns="0" rIns="0" bIns="0" rtlCol="0" anchor="t">
            <a:spAutoFit/>
          </a:bodyPr>
          <a:lstStyle/>
          <a:p>
            <a:pPr algn="ctr">
              <a:lnSpc>
                <a:spcPts val="14000"/>
              </a:lnSpc>
            </a:pPr>
            <a:r>
              <a:rPr lang="en-US" sz="14000" spc="-840">
                <a:solidFill>
                  <a:srgbClr val="000000"/>
                </a:solidFill>
                <a:latin typeface="Helvetica World"/>
                <a:ea typeface="Helvetica World"/>
                <a:cs typeface="Helvetica World"/>
                <a:sym typeface="Helvetica World"/>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190</Words>
  <Application>Microsoft Office PowerPoint</Application>
  <PresentationFormat>Tùy chỉnh</PresentationFormat>
  <Paragraphs>19</Paragraphs>
  <Slides>11</Slides>
  <Notes>0</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11</vt:i4>
      </vt:variant>
    </vt:vector>
  </HeadingPairs>
  <TitlesOfParts>
    <vt:vector size="18" baseType="lpstr">
      <vt:lpstr>Montserrat Bold</vt:lpstr>
      <vt:lpstr>Times New Roman MT Condensed Italics</vt:lpstr>
      <vt:lpstr>Montserrat</vt:lpstr>
      <vt:lpstr>Arial</vt:lpstr>
      <vt:lpstr>Calibri</vt:lpstr>
      <vt:lpstr>Helvetica World</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Simple Lined Minimalist Basic Seminar Presentation</dc:title>
  <cp:lastModifiedBy>Thịnh Nguyễn Trường</cp:lastModifiedBy>
  <cp:revision>2</cp:revision>
  <dcterms:created xsi:type="dcterms:W3CDTF">2006-08-16T00:00:00Z</dcterms:created>
  <dcterms:modified xsi:type="dcterms:W3CDTF">2026-03-24T05:22:06Z</dcterms:modified>
  <dc:identifier>DAG5_4Kp4F0</dc:identifier>
</cp:coreProperties>
</file>